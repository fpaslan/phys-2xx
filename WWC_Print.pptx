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95" r:id="rId2"/>
    <p:sldId id="256" r:id="rId3"/>
    <p:sldId id="262" r:id="rId4"/>
    <p:sldId id="291" r:id="rId5"/>
    <p:sldId id="293" r:id="rId6"/>
    <p:sldId id="264" r:id="rId7"/>
    <p:sldId id="265" r:id="rId8"/>
    <p:sldId id="285" r:id="rId9"/>
    <p:sldId id="294" r:id="rId10"/>
    <p:sldId id="288" r:id="rId11"/>
    <p:sldId id="287" r:id="rId12"/>
    <p:sldId id="289" r:id="rId13"/>
    <p:sldId id="296" r:id="rId14"/>
    <p:sldId id="267" r:id="rId15"/>
    <p:sldId id="268" r:id="rId16"/>
    <p:sldId id="269"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6075"/>
    <p:restoredTop sz="94667"/>
  </p:normalViewPr>
  <p:slideViewPr>
    <p:cSldViewPr snapToGrid="0">
      <p:cViewPr varScale="1">
        <p:scale>
          <a:sx n="108" d="100"/>
          <a:sy n="108" d="100"/>
        </p:scale>
        <p:origin x="224" y="2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20DFB5-F7BA-07C6-4052-607BEAD639F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A548B1E-7DC7-4AEE-6CCD-55C56ED32B8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E07C3C3-496A-8354-7A26-618832B93461}"/>
              </a:ext>
            </a:extLst>
          </p:cNvPr>
          <p:cNvSpPr>
            <a:spLocks noGrp="1"/>
          </p:cNvSpPr>
          <p:nvPr>
            <p:ph type="dt" sz="half" idx="10"/>
          </p:nvPr>
        </p:nvSpPr>
        <p:spPr/>
        <p:txBody>
          <a:bodyPr/>
          <a:lstStyle/>
          <a:p>
            <a:fld id="{3592CDBF-67FD-7D4D-81A6-042B6D40A8B0}" type="datetimeFigureOut">
              <a:rPr lang="en-US" smtClean="0"/>
              <a:t>5/5/26</a:t>
            </a:fld>
            <a:endParaRPr lang="en-US"/>
          </a:p>
        </p:txBody>
      </p:sp>
      <p:sp>
        <p:nvSpPr>
          <p:cNvPr id="5" name="Footer Placeholder 4">
            <a:extLst>
              <a:ext uri="{FF2B5EF4-FFF2-40B4-BE49-F238E27FC236}">
                <a16:creationId xmlns:a16="http://schemas.microsoft.com/office/drawing/2014/main" id="{A84E58D7-15F7-108C-AEF3-F2BD096B737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093D1A-2E63-1399-C42F-E958375CB53F}"/>
              </a:ext>
            </a:extLst>
          </p:cNvPr>
          <p:cNvSpPr>
            <a:spLocks noGrp="1"/>
          </p:cNvSpPr>
          <p:nvPr>
            <p:ph type="sldNum" sz="quarter" idx="12"/>
          </p:nvPr>
        </p:nvSpPr>
        <p:spPr/>
        <p:txBody>
          <a:bodyPr/>
          <a:lstStyle/>
          <a:p>
            <a:fld id="{2A302440-572A-714F-A3F0-9A09BCD76C9B}" type="slidenum">
              <a:rPr lang="en-US" smtClean="0"/>
              <a:t>‹#›</a:t>
            </a:fld>
            <a:endParaRPr lang="en-US"/>
          </a:p>
        </p:txBody>
      </p:sp>
    </p:spTree>
    <p:extLst>
      <p:ext uri="{BB962C8B-B14F-4D97-AF65-F5344CB8AC3E}">
        <p14:creationId xmlns:p14="http://schemas.microsoft.com/office/powerpoint/2010/main" val="16161782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E34735-7202-E491-E11D-2EA5E951B7D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B76F62C-77F0-C9F6-1E30-3F089C3056F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792F79A-4911-4898-8E12-3842F613FCB7}"/>
              </a:ext>
            </a:extLst>
          </p:cNvPr>
          <p:cNvSpPr>
            <a:spLocks noGrp="1"/>
          </p:cNvSpPr>
          <p:nvPr>
            <p:ph type="dt" sz="half" idx="10"/>
          </p:nvPr>
        </p:nvSpPr>
        <p:spPr/>
        <p:txBody>
          <a:bodyPr/>
          <a:lstStyle/>
          <a:p>
            <a:fld id="{3592CDBF-67FD-7D4D-81A6-042B6D40A8B0}" type="datetimeFigureOut">
              <a:rPr lang="en-US" smtClean="0"/>
              <a:t>5/5/26</a:t>
            </a:fld>
            <a:endParaRPr lang="en-US"/>
          </a:p>
        </p:txBody>
      </p:sp>
      <p:sp>
        <p:nvSpPr>
          <p:cNvPr id="5" name="Footer Placeholder 4">
            <a:extLst>
              <a:ext uri="{FF2B5EF4-FFF2-40B4-BE49-F238E27FC236}">
                <a16:creationId xmlns:a16="http://schemas.microsoft.com/office/drawing/2014/main" id="{C0208A2B-4DA2-2D07-7989-FEB091C64CD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066470A-573D-314E-0EF3-B3CCDBCEC23D}"/>
              </a:ext>
            </a:extLst>
          </p:cNvPr>
          <p:cNvSpPr>
            <a:spLocks noGrp="1"/>
          </p:cNvSpPr>
          <p:nvPr>
            <p:ph type="sldNum" sz="quarter" idx="12"/>
          </p:nvPr>
        </p:nvSpPr>
        <p:spPr/>
        <p:txBody>
          <a:bodyPr/>
          <a:lstStyle/>
          <a:p>
            <a:fld id="{2A302440-572A-714F-A3F0-9A09BCD76C9B}" type="slidenum">
              <a:rPr lang="en-US" smtClean="0"/>
              <a:t>‹#›</a:t>
            </a:fld>
            <a:endParaRPr lang="en-US"/>
          </a:p>
        </p:txBody>
      </p:sp>
    </p:spTree>
    <p:extLst>
      <p:ext uri="{BB962C8B-B14F-4D97-AF65-F5344CB8AC3E}">
        <p14:creationId xmlns:p14="http://schemas.microsoft.com/office/powerpoint/2010/main" val="14629824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A7C151-5C5B-EEF6-E208-0685364B75B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25277BB-A2C9-E1B1-3EC0-95B422DC22E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BC9F5E3-9037-BFB7-80AA-8453B40619E5}"/>
              </a:ext>
            </a:extLst>
          </p:cNvPr>
          <p:cNvSpPr>
            <a:spLocks noGrp="1"/>
          </p:cNvSpPr>
          <p:nvPr>
            <p:ph type="dt" sz="half" idx="10"/>
          </p:nvPr>
        </p:nvSpPr>
        <p:spPr/>
        <p:txBody>
          <a:bodyPr/>
          <a:lstStyle/>
          <a:p>
            <a:fld id="{3592CDBF-67FD-7D4D-81A6-042B6D40A8B0}" type="datetimeFigureOut">
              <a:rPr lang="en-US" smtClean="0"/>
              <a:t>5/5/26</a:t>
            </a:fld>
            <a:endParaRPr lang="en-US"/>
          </a:p>
        </p:txBody>
      </p:sp>
      <p:sp>
        <p:nvSpPr>
          <p:cNvPr id="5" name="Footer Placeholder 4">
            <a:extLst>
              <a:ext uri="{FF2B5EF4-FFF2-40B4-BE49-F238E27FC236}">
                <a16:creationId xmlns:a16="http://schemas.microsoft.com/office/drawing/2014/main" id="{F6528BEE-CE3A-ECB5-FA01-A18FFBD7E94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E58CDC6-F570-51B1-0A62-25D09501E1AA}"/>
              </a:ext>
            </a:extLst>
          </p:cNvPr>
          <p:cNvSpPr>
            <a:spLocks noGrp="1"/>
          </p:cNvSpPr>
          <p:nvPr>
            <p:ph type="sldNum" sz="quarter" idx="12"/>
          </p:nvPr>
        </p:nvSpPr>
        <p:spPr/>
        <p:txBody>
          <a:bodyPr/>
          <a:lstStyle/>
          <a:p>
            <a:fld id="{2A302440-572A-714F-A3F0-9A09BCD76C9B}" type="slidenum">
              <a:rPr lang="en-US" smtClean="0"/>
              <a:t>‹#›</a:t>
            </a:fld>
            <a:endParaRPr lang="en-US"/>
          </a:p>
        </p:txBody>
      </p:sp>
    </p:spTree>
    <p:extLst>
      <p:ext uri="{BB962C8B-B14F-4D97-AF65-F5344CB8AC3E}">
        <p14:creationId xmlns:p14="http://schemas.microsoft.com/office/powerpoint/2010/main" val="36872704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DA756E-B3D9-01FA-D645-2962098F6C9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75EB433-FC62-5117-2637-3D330669AE5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8AC58E7-3BCA-0EA0-67A4-7ECB6E4D642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126938A-118B-4F2A-1862-99A929F98F40}"/>
              </a:ext>
            </a:extLst>
          </p:cNvPr>
          <p:cNvSpPr>
            <a:spLocks noGrp="1"/>
          </p:cNvSpPr>
          <p:nvPr>
            <p:ph type="dt" sz="half" idx="10"/>
          </p:nvPr>
        </p:nvSpPr>
        <p:spPr/>
        <p:txBody>
          <a:bodyPr/>
          <a:lstStyle/>
          <a:p>
            <a:fld id="{3592CDBF-67FD-7D4D-81A6-042B6D40A8B0}" type="datetimeFigureOut">
              <a:rPr lang="en-US" smtClean="0"/>
              <a:t>5/5/26</a:t>
            </a:fld>
            <a:endParaRPr lang="en-US"/>
          </a:p>
        </p:txBody>
      </p:sp>
      <p:sp>
        <p:nvSpPr>
          <p:cNvPr id="6" name="Footer Placeholder 5">
            <a:extLst>
              <a:ext uri="{FF2B5EF4-FFF2-40B4-BE49-F238E27FC236}">
                <a16:creationId xmlns:a16="http://schemas.microsoft.com/office/drawing/2014/main" id="{31D97C07-403A-6DF6-D12B-C70CAAD6580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BBF5833-1239-B84D-1D30-AA9AFCEB2435}"/>
              </a:ext>
            </a:extLst>
          </p:cNvPr>
          <p:cNvSpPr>
            <a:spLocks noGrp="1"/>
          </p:cNvSpPr>
          <p:nvPr>
            <p:ph type="sldNum" sz="quarter" idx="12"/>
          </p:nvPr>
        </p:nvSpPr>
        <p:spPr/>
        <p:txBody>
          <a:bodyPr/>
          <a:lstStyle/>
          <a:p>
            <a:fld id="{2A302440-572A-714F-A3F0-9A09BCD76C9B}" type="slidenum">
              <a:rPr lang="en-US" smtClean="0"/>
              <a:t>‹#›</a:t>
            </a:fld>
            <a:endParaRPr lang="en-US"/>
          </a:p>
        </p:txBody>
      </p:sp>
    </p:spTree>
    <p:extLst>
      <p:ext uri="{BB962C8B-B14F-4D97-AF65-F5344CB8AC3E}">
        <p14:creationId xmlns:p14="http://schemas.microsoft.com/office/powerpoint/2010/main" val="14757087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C2AFDD-E99D-765C-70F8-82F0006C9C5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363C086-33A0-2654-9ED3-756B587CB6C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1376995-7EEA-9C72-37F7-739A549109F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99B2E55-675B-7032-BD6C-5E73097A59D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526AE3E-7572-20C3-24FF-0AE13AE4B5A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93DE785-B843-E769-BF79-71BAB5220BF3}"/>
              </a:ext>
            </a:extLst>
          </p:cNvPr>
          <p:cNvSpPr>
            <a:spLocks noGrp="1"/>
          </p:cNvSpPr>
          <p:nvPr>
            <p:ph type="dt" sz="half" idx="10"/>
          </p:nvPr>
        </p:nvSpPr>
        <p:spPr/>
        <p:txBody>
          <a:bodyPr/>
          <a:lstStyle/>
          <a:p>
            <a:fld id="{3592CDBF-67FD-7D4D-81A6-042B6D40A8B0}" type="datetimeFigureOut">
              <a:rPr lang="en-US" smtClean="0"/>
              <a:t>5/5/26</a:t>
            </a:fld>
            <a:endParaRPr lang="en-US"/>
          </a:p>
        </p:txBody>
      </p:sp>
      <p:sp>
        <p:nvSpPr>
          <p:cNvPr id="8" name="Footer Placeholder 7">
            <a:extLst>
              <a:ext uri="{FF2B5EF4-FFF2-40B4-BE49-F238E27FC236}">
                <a16:creationId xmlns:a16="http://schemas.microsoft.com/office/drawing/2014/main" id="{F478338F-0603-B107-9B8C-66443C69420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BE6FA9C-819B-DC95-E97F-9E826248800F}"/>
              </a:ext>
            </a:extLst>
          </p:cNvPr>
          <p:cNvSpPr>
            <a:spLocks noGrp="1"/>
          </p:cNvSpPr>
          <p:nvPr>
            <p:ph type="sldNum" sz="quarter" idx="12"/>
          </p:nvPr>
        </p:nvSpPr>
        <p:spPr/>
        <p:txBody>
          <a:bodyPr/>
          <a:lstStyle/>
          <a:p>
            <a:fld id="{2A302440-572A-714F-A3F0-9A09BCD76C9B}" type="slidenum">
              <a:rPr lang="en-US" smtClean="0"/>
              <a:t>‹#›</a:t>
            </a:fld>
            <a:endParaRPr lang="en-US"/>
          </a:p>
        </p:txBody>
      </p:sp>
    </p:spTree>
    <p:extLst>
      <p:ext uri="{BB962C8B-B14F-4D97-AF65-F5344CB8AC3E}">
        <p14:creationId xmlns:p14="http://schemas.microsoft.com/office/powerpoint/2010/main" val="31120149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BBBD67-58CA-8BE2-E018-8AB02833D10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1D9157E-247B-6535-22DF-014AF1DC75B9}"/>
              </a:ext>
            </a:extLst>
          </p:cNvPr>
          <p:cNvSpPr>
            <a:spLocks noGrp="1"/>
          </p:cNvSpPr>
          <p:nvPr>
            <p:ph type="dt" sz="half" idx="10"/>
          </p:nvPr>
        </p:nvSpPr>
        <p:spPr/>
        <p:txBody>
          <a:bodyPr/>
          <a:lstStyle/>
          <a:p>
            <a:fld id="{3592CDBF-67FD-7D4D-81A6-042B6D40A8B0}" type="datetimeFigureOut">
              <a:rPr lang="en-US" smtClean="0"/>
              <a:t>5/5/26</a:t>
            </a:fld>
            <a:endParaRPr lang="en-US"/>
          </a:p>
        </p:txBody>
      </p:sp>
      <p:sp>
        <p:nvSpPr>
          <p:cNvPr id="4" name="Footer Placeholder 3">
            <a:extLst>
              <a:ext uri="{FF2B5EF4-FFF2-40B4-BE49-F238E27FC236}">
                <a16:creationId xmlns:a16="http://schemas.microsoft.com/office/drawing/2014/main" id="{C6BE61A8-E75B-4EBC-7218-EE5DC01D575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69372D4-4217-9C69-C494-822BDD2C9E81}"/>
              </a:ext>
            </a:extLst>
          </p:cNvPr>
          <p:cNvSpPr>
            <a:spLocks noGrp="1"/>
          </p:cNvSpPr>
          <p:nvPr>
            <p:ph type="sldNum" sz="quarter" idx="12"/>
          </p:nvPr>
        </p:nvSpPr>
        <p:spPr/>
        <p:txBody>
          <a:bodyPr/>
          <a:lstStyle/>
          <a:p>
            <a:fld id="{2A302440-572A-714F-A3F0-9A09BCD76C9B}" type="slidenum">
              <a:rPr lang="en-US" smtClean="0"/>
              <a:t>‹#›</a:t>
            </a:fld>
            <a:endParaRPr lang="en-US"/>
          </a:p>
        </p:txBody>
      </p:sp>
    </p:spTree>
    <p:extLst>
      <p:ext uri="{BB962C8B-B14F-4D97-AF65-F5344CB8AC3E}">
        <p14:creationId xmlns:p14="http://schemas.microsoft.com/office/powerpoint/2010/main" val="17973164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71FA3F3-47E2-1F8B-86B4-C43E61B03CF3}"/>
              </a:ext>
            </a:extLst>
          </p:cNvPr>
          <p:cNvSpPr>
            <a:spLocks noGrp="1"/>
          </p:cNvSpPr>
          <p:nvPr>
            <p:ph type="dt" sz="half" idx="10"/>
          </p:nvPr>
        </p:nvSpPr>
        <p:spPr/>
        <p:txBody>
          <a:bodyPr/>
          <a:lstStyle/>
          <a:p>
            <a:fld id="{3592CDBF-67FD-7D4D-81A6-042B6D40A8B0}" type="datetimeFigureOut">
              <a:rPr lang="en-US" smtClean="0"/>
              <a:t>5/5/26</a:t>
            </a:fld>
            <a:endParaRPr lang="en-US"/>
          </a:p>
        </p:txBody>
      </p:sp>
      <p:sp>
        <p:nvSpPr>
          <p:cNvPr id="3" name="Footer Placeholder 2">
            <a:extLst>
              <a:ext uri="{FF2B5EF4-FFF2-40B4-BE49-F238E27FC236}">
                <a16:creationId xmlns:a16="http://schemas.microsoft.com/office/drawing/2014/main" id="{23F63F1D-E324-89B3-FB6B-FA84389A9D5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DE1AC89-A654-F2B9-529B-FF72AF4DB3F3}"/>
              </a:ext>
            </a:extLst>
          </p:cNvPr>
          <p:cNvSpPr>
            <a:spLocks noGrp="1"/>
          </p:cNvSpPr>
          <p:nvPr>
            <p:ph type="sldNum" sz="quarter" idx="12"/>
          </p:nvPr>
        </p:nvSpPr>
        <p:spPr/>
        <p:txBody>
          <a:bodyPr/>
          <a:lstStyle/>
          <a:p>
            <a:fld id="{2A302440-572A-714F-A3F0-9A09BCD76C9B}" type="slidenum">
              <a:rPr lang="en-US" smtClean="0"/>
              <a:t>‹#›</a:t>
            </a:fld>
            <a:endParaRPr lang="en-US"/>
          </a:p>
        </p:txBody>
      </p:sp>
    </p:spTree>
    <p:extLst>
      <p:ext uri="{BB962C8B-B14F-4D97-AF65-F5344CB8AC3E}">
        <p14:creationId xmlns:p14="http://schemas.microsoft.com/office/powerpoint/2010/main" val="8781482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C51DDA-C5D3-47AE-1CCB-0614BFF5CFA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3520A7B-CE8A-8909-E728-A4E7E8ECAA8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40A888B-858A-51D8-46F4-94C6268FBB6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99BAABC-8058-02E8-1AF6-2AB0CAB0C816}"/>
              </a:ext>
            </a:extLst>
          </p:cNvPr>
          <p:cNvSpPr>
            <a:spLocks noGrp="1"/>
          </p:cNvSpPr>
          <p:nvPr>
            <p:ph type="dt" sz="half" idx="10"/>
          </p:nvPr>
        </p:nvSpPr>
        <p:spPr/>
        <p:txBody>
          <a:bodyPr/>
          <a:lstStyle/>
          <a:p>
            <a:fld id="{3592CDBF-67FD-7D4D-81A6-042B6D40A8B0}" type="datetimeFigureOut">
              <a:rPr lang="en-US" smtClean="0"/>
              <a:t>5/5/26</a:t>
            </a:fld>
            <a:endParaRPr lang="en-US"/>
          </a:p>
        </p:txBody>
      </p:sp>
      <p:sp>
        <p:nvSpPr>
          <p:cNvPr id="6" name="Footer Placeholder 5">
            <a:extLst>
              <a:ext uri="{FF2B5EF4-FFF2-40B4-BE49-F238E27FC236}">
                <a16:creationId xmlns:a16="http://schemas.microsoft.com/office/drawing/2014/main" id="{693057A6-FE43-482B-CEFE-9F3572F4D29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395CBD9-5079-ADCB-3E8B-CBB9E326E170}"/>
              </a:ext>
            </a:extLst>
          </p:cNvPr>
          <p:cNvSpPr>
            <a:spLocks noGrp="1"/>
          </p:cNvSpPr>
          <p:nvPr>
            <p:ph type="sldNum" sz="quarter" idx="12"/>
          </p:nvPr>
        </p:nvSpPr>
        <p:spPr/>
        <p:txBody>
          <a:bodyPr/>
          <a:lstStyle/>
          <a:p>
            <a:fld id="{2A302440-572A-714F-A3F0-9A09BCD76C9B}" type="slidenum">
              <a:rPr lang="en-US" smtClean="0"/>
              <a:t>‹#›</a:t>
            </a:fld>
            <a:endParaRPr lang="en-US"/>
          </a:p>
        </p:txBody>
      </p:sp>
    </p:spTree>
    <p:extLst>
      <p:ext uri="{BB962C8B-B14F-4D97-AF65-F5344CB8AC3E}">
        <p14:creationId xmlns:p14="http://schemas.microsoft.com/office/powerpoint/2010/main" val="35534070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1A29A4-61FA-F2A5-20DC-76E1BEF0CE9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0C0C5B8-3D92-B426-8B80-271B93B0434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01A4733-1C6F-8887-CF49-0F23824CAB3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5C968B0-23E6-80E8-CA0E-33300BCC7687}"/>
              </a:ext>
            </a:extLst>
          </p:cNvPr>
          <p:cNvSpPr>
            <a:spLocks noGrp="1"/>
          </p:cNvSpPr>
          <p:nvPr>
            <p:ph type="dt" sz="half" idx="10"/>
          </p:nvPr>
        </p:nvSpPr>
        <p:spPr/>
        <p:txBody>
          <a:bodyPr/>
          <a:lstStyle/>
          <a:p>
            <a:fld id="{3592CDBF-67FD-7D4D-81A6-042B6D40A8B0}" type="datetimeFigureOut">
              <a:rPr lang="en-US" smtClean="0"/>
              <a:t>5/5/26</a:t>
            </a:fld>
            <a:endParaRPr lang="en-US"/>
          </a:p>
        </p:txBody>
      </p:sp>
      <p:sp>
        <p:nvSpPr>
          <p:cNvPr id="6" name="Footer Placeholder 5">
            <a:extLst>
              <a:ext uri="{FF2B5EF4-FFF2-40B4-BE49-F238E27FC236}">
                <a16:creationId xmlns:a16="http://schemas.microsoft.com/office/drawing/2014/main" id="{3AB241E8-294B-B761-99BE-F77C3F445B5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2CB3E5F-32CD-061D-99E8-079A525BEE39}"/>
              </a:ext>
            </a:extLst>
          </p:cNvPr>
          <p:cNvSpPr>
            <a:spLocks noGrp="1"/>
          </p:cNvSpPr>
          <p:nvPr>
            <p:ph type="sldNum" sz="quarter" idx="12"/>
          </p:nvPr>
        </p:nvSpPr>
        <p:spPr/>
        <p:txBody>
          <a:bodyPr/>
          <a:lstStyle/>
          <a:p>
            <a:fld id="{2A302440-572A-714F-A3F0-9A09BCD76C9B}" type="slidenum">
              <a:rPr lang="en-US" smtClean="0"/>
              <a:t>‹#›</a:t>
            </a:fld>
            <a:endParaRPr lang="en-US"/>
          </a:p>
        </p:txBody>
      </p:sp>
    </p:spTree>
    <p:extLst>
      <p:ext uri="{BB962C8B-B14F-4D97-AF65-F5344CB8AC3E}">
        <p14:creationId xmlns:p14="http://schemas.microsoft.com/office/powerpoint/2010/main" val="29203929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D1A5AA-73C8-ED5B-11A5-490A298B662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6945033-6F00-0CBB-6C4A-D38C73A8444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8B2BCBB-DCDA-FA6C-F024-D72026050F87}"/>
              </a:ext>
            </a:extLst>
          </p:cNvPr>
          <p:cNvSpPr>
            <a:spLocks noGrp="1"/>
          </p:cNvSpPr>
          <p:nvPr>
            <p:ph type="dt" sz="half" idx="10"/>
          </p:nvPr>
        </p:nvSpPr>
        <p:spPr/>
        <p:txBody>
          <a:bodyPr/>
          <a:lstStyle/>
          <a:p>
            <a:fld id="{3592CDBF-67FD-7D4D-81A6-042B6D40A8B0}" type="datetimeFigureOut">
              <a:rPr lang="en-US" smtClean="0"/>
              <a:t>5/5/26</a:t>
            </a:fld>
            <a:endParaRPr lang="en-US"/>
          </a:p>
        </p:txBody>
      </p:sp>
      <p:sp>
        <p:nvSpPr>
          <p:cNvPr id="5" name="Footer Placeholder 4">
            <a:extLst>
              <a:ext uri="{FF2B5EF4-FFF2-40B4-BE49-F238E27FC236}">
                <a16:creationId xmlns:a16="http://schemas.microsoft.com/office/drawing/2014/main" id="{0E77A53C-9D6E-58CB-E9E4-D0965C52F0B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B5EA572-509E-7925-AC69-127828489A3A}"/>
              </a:ext>
            </a:extLst>
          </p:cNvPr>
          <p:cNvSpPr>
            <a:spLocks noGrp="1"/>
          </p:cNvSpPr>
          <p:nvPr>
            <p:ph type="sldNum" sz="quarter" idx="12"/>
          </p:nvPr>
        </p:nvSpPr>
        <p:spPr/>
        <p:txBody>
          <a:bodyPr/>
          <a:lstStyle/>
          <a:p>
            <a:fld id="{2A302440-572A-714F-A3F0-9A09BCD76C9B}" type="slidenum">
              <a:rPr lang="en-US" smtClean="0"/>
              <a:t>‹#›</a:t>
            </a:fld>
            <a:endParaRPr lang="en-US"/>
          </a:p>
        </p:txBody>
      </p:sp>
    </p:spTree>
    <p:extLst>
      <p:ext uri="{BB962C8B-B14F-4D97-AF65-F5344CB8AC3E}">
        <p14:creationId xmlns:p14="http://schemas.microsoft.com/office/powerpoint/2010/main" val="2241551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410F5A5-63DB-05B0-8C37-2243FE7C30C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1D21D84-4406-B706-DA7D-93CA8B2C289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DABEF29-6F6C-472C-33A2-C21D9B1A9BC3}"/>
              </a:ext>
            </a:extLst>
          </p:cNvPr>
          <p:cNvSpPr>
            <a:spLocks noGrp="1"/>
          </p:cNvSpPr>
          <p:nvPr>
            <p:ph type="dt" sz="half" idx="10"/>
          </p:nvPr>
        </p:nvSpPr>
        <p:spPr/>
        <p:txBody>
          <a:bodyPr/>
          <a:lstStyle/>
          <a:p>
            <a:fld id="{3592CDBF-67FD-7D4D-81A6-042B6D40A8B0}" type="datetimeFigureOut">
              <a:rPr lang="en-US" smtClean="0"/>
              <a:t>5/5/26</a:t>
            </a:fld>
            <a:endParaRPr lang="en-US"/>
          </a:p>
        </p:txBody>
      </p:sp>
      <p:sp>
        <p:nvSpPr>
          <p:cNvPr id="5" name="Footer Placeholder 4">
            <a:extLst>
              <a:ext uri="{FF2B5EF4-FFF2-40B4-BE49-F238E27FC236}">
                <a16:creationId xmlns:a16="http://schemas.microsoft.com/office/drawing/2014/main" id="{F9AACD1C-902C-3169-1C40-0F131695304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7CE4F95-521A-1DC0-FD9B-2E7439BE85C2}"/>
              </a:ext>
            </a:extLst>
          </p:cNvPr>
          <p:cNvSpPr>
            <a:spLocks noGrp="1"/>
          </p:cNvSpPr>
          <p:nvPr>
            <p:ph type="sldNum" sz="quarter" idx="12"/>
          </p:nvPr>
        </p:nvSpPr>
        <p:spPr/>
        <p:txBody>
          <a:bodyPr/>
          <a:lstStyle/>
          <a:p>
            <a:fld id="{2A302440-572A-714F-A3F0-9A09BCD76C9B}" type="slidenum">
              <a:rPr lang="en-US" smtClean="0"/>
              <a:t>‹#›</a:t>
            </a:fld>
            <a:endParaRPr lang="en-US"/>
          </a:p>
        </p:txBody>
      </p:sp>
    </p:spTree>
    <p:extLst>
      <p:ext uri="{BB962C8B-B14F-4D97-AF65-F5344CB8AC3E}">
        <p14:creationId xmlns:p14="http://schemas.microsoft.com/office/powerpoint/2010/main" val="32515352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62D7913-DC65-B5D1-507A-3D375E674E3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C2712CE-00A8-6166-3E75-B04DAADEB08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233FBAF-80DC-0A3A-BC49-203097EF696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592CDBF-67FD-7D4D-81A6-042B6D40A8B0}" type="datetimeFigureOut">
              <a:rPr lang="en-US" smtClean="0"/>
              <a:t>5/5/26</a:t>
            </a:fld>
            <a:endParaRPr lang="en-US"/>
          </a:p>
        </p:txBody>
      </p:sp>
      <p:sp>
        <p:nvSpPr>
          <p:cNvPr id="5" name="Footer Placeholder 4">
            <a:extLst>
              <a:ext uri="{FF2B5EF4-FFF2-40B4-BE49-F238E27FC236}">
                <a16:creationId xmlns:a16="http://schemas.microsoft.com/office/drawing/2014/main" id="{D71EF3BC-F016-9916-9FBD-C909F428CCE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F103FEF4-6779-7DFC-4C61-F43716025A5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A302440-572A-714F-A3F0-9A09BCD76C9B}" type="slidenum">
              <a:rPr lang="en-US" smtClean="0"/>
              <a:t>‹#›</a:t>
            </a:fld>
            <a:endParaRPr lang="en-US"/>
          </a:p>
        </p:txBody>
      </p:sp>
    </p:spTree>
    <p:extLst>
      <p:ext uri="{BB962C8B-B14F-4D97-AF65-F5344CB8AC3E}">
        <p14:creationId xmlns:p14="http://schemas.microsoft.com/office/powerpoint/2010/main" val="122934511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hyperlink" Target="https://carnegieclassifications.acenet.edu/institution/city-colleges-of-chicago-wilbur-wright-college/" TargetMode="External"/><Relationship Id="rId2" Type="http://schemas.openxmlformats.org/officeDocument/2006/relationships/hyperlink" Target="https://content.ccc.edu/wrighthsi/" TargetMode="Externa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hyperlink" Target="https://science.osti.gov/wdts/cci" TargetMode="External"/><Relationship Id="rId2" Type="http://schemas.openxmlformats.org/officeDocument/2006/relationships/hyperlink" Target="https://science.osti.gov/wdts/suli" TargetMode="External"/><Relationship Id="rId1" Type="http://schemas.openxmlformats.org/officeDocument/2006/relationships/slideLayout" Target="../slideLayouts/slideLayout7.xml"/><Relationship Id="rId5" Type="http://schemas.openxmlformats.org/officeDocument/2006/relationships/hyperlink" Target="https://science.osti.gov/-/media/budget/pdf/sc-budget-request-to-congress/2025/Workforce-Development-for-Teachers-and-Scientists-3_15_24---Final.pdf" TargetMode="External"/><Relationship Id="rId4" Type="http://schemas.openxmlformats.org/officeDocument/2006/relationships/hyperlink" Target="https://science.osti.gov/wdts/vfp"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hyperlink" Target="https://www.ornl.gov/news/partnership-offers-direct-career-path-pellissippi-state-ornl" TargetMode="External"/><Relationship Id="rId2" Type="http://schemas.openxmlformats.org/officeDocument/2006/relationships/hyperlink" Target="https://colleges.ccc.edu/2022/09/06/city-colleges-of-chicago-partners-with-argonne-in-research-and-education/" TargetMode="External"/><Relationship Id="rId1" Type="http://schemas.openxmlformats.org/officeDocument/2006/relationships/slideLayout" Target="../slideLayouts/slideLayout7.xml"/><Relationship Id="rId5" Type="http://schemas.openxmlformats.org/officeDocument/2006/relationships/hyperlink" Target="https://newsreleases.sandia.gov/sandia-mesalands-community-college-sign-agreement-to-jointly-research-new-wind-energy-technologies/" TargetMode="External"/><Relationship Id="rId4" Type="http://schemas.openxmlformats.org/officeDocument/2006/relationships/hyperlink" Target="https://www.srnl.gov/news-releases/srnl-augusta-tech/"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hyperlink" Target="https://science.osti.gov/wdts/suli" TargetMode="Externa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hyperlink" Target="https://science.osti.gov/wdts/cci" TargetMode="Externa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hyperlink" Target="https://science.osti.gov/wdts/vfp" TargetMode="Externa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4522B21E-B2B9-4C72-9A71-C87EFD1374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5EB7D2A2-F448-44D4-938C-DC84CBCB3B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4412583"/>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Rectangle 25">
            <a:extLst>
              <a:ext uri="{FF2B5EF4-FFF2-40B4-BE49-F238E27FC236}">
                <a16:creationId xmlns:a16="http://schemas.microsoft.com/office/drawing/2014/main" id="{871AEA07-1E14-44B4-8E55-64EF049CD6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6464" y="551962"/>
            <a:ext cx="10999072" cy="4618549"/>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29786D7D-EFBB-DA5A-74F9-A658EDDAB60F}"/>
              </a:ext>
            </a:extLst>
          </p:cNvPr>
          <p:cNvSpPr txBox="1"/>
          <p:nvPr/>
        </p:nvSpPr>
        <p:spPr>
          <a:xfrm>
            <a:off x="1524000" y="1293338"/>
            <a:ext cx="9144000" cy="3274592"/>
          </a:xfrm>
          <a:prstGeom prst="rect">
            <a:avLst/>
          </a:prstGeom>
        </p:spPr>
        <p:txBody>
          <a:bodyPr vert="horz" lIns="91440" tIns="45720" rIns="91440" bIns="45720" rtlCol="0" anchor="ctr">
            <a:normAutofit lnSpcReduction="10000"/>
          </a:bodyPr>
          <a:lstStyle/>
          <a:p>
            <a:pPr algn="ctr">
              <a:lnSpc>
                <a:spcPct val="90000"/>
              </a:lnSpc>
              <a:spcBef>
                <a:spcPct val="0"/>
              </a:spcBef>
              <a:spcAft>
                <a:spcPts val="600"/>
              </a:spcAft>
            </a:pPr>
            <a:r>
              <a:rPr lang="en-US" sz="6000" dirty="0"/>
              <a:t>Supporting Wilbur Wright College Students in STEM through Argonne National Laboratory</a:t>
            </a:r>
            <a:endParaRPr lang="en-US" sz="5600" kern="1200" dirty="0">
              <a:solidFill>
                <a:schemeClr val="tx1"/>
              </a:solidFill>
              <a:latin typeface="+mj-lt"/>
              <a:ea typeface="+mj-ea"/>
              <a:cs typeface="+mj-cs"/>
            </a:endParaRPr>
          </a:p>
        </p:txBody>
      </p:sp>
      <p:cxnSp>
        <p:nvCxnSpPr>
          <p:cNvPr id="28" name="Straight Connector 27">
            <a:extLst>
              <a:ext uri="{FF2B5EF4-FFF2-40B4-BE49-F238E27FC236}">
                <a16:creationId xmlns:a16="http://schemas.microsoft.com/office/drawing/2014/main" id="{F7C8EA93-3210-4C62-99E9-153C275E3A8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96464" y="6354708"/>
            <a:ext cx="11000232" cy="0"/>
          </a:xfrm>
          <a:prstGeom prst="line">
            <a:avLst/>
          </a:prstGeom>
          <a:ln w="101600">
            <a:solidFill>
              <a:schemeClr val="accent4"/>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DE1EA89F-1C17-8090-70D7-98EA85F635AC}"/>
              </a:ext>
            </a:extLst>
          </p:cNvPr>
          <p:cNvSpPr txBox="1"/>
          <p:nvPr/>
        </p:nvSpPr>
        <p:spPr>
          <a:xfrm>
            <a:off x="8850775" y="5170511"/>
            <a:ext cx="2839656" cy="1200329"/>
          </a:xfrm>
          <a:prstGeom prst="rect">
            <a:avLst/>
          </a:prstGeom>
          <a:noFill/>
        </p:spPr>
        <p:txBody>
          <a:bodyPr wrap="square" rtlCol="0">
            <a:spAutoFit/>
          </a:bodyPr>
          <a:lstStyle/>
          <a:p>
            <a:r>
              <a:rPr lang="en-US" sz="3600" dirty="0"/>
              <a:t>Fatma Aslan</a:t>
            </a:r>
          </a:p>
          <a:p>
            <a:r>
              <a:rPr lang="en-US" sz="3600" dirty="0"/>
              <a:t>May 8, 2026</a:t>
            </a:r>
          </a:p>
        </p:txBody>
      </p:sp>
    </p:spTree>
    <p:extLst>
      <p:ext uri="{BB962C8B-B14F-4D97-AF65-F5344CB8AC3E}">
        <p14:creationId xmlns:p14="http://schemas.microsoft.com/office/powerpoint/2010/main" val="11678263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518EBC5E-13F9-9A1B-B112-12FB63680E43}"/>
              </a:ext>
            </a:extLst>
          </p:cNvPr>
          <p:cNvSpPr txBox="1"/>
          <p:nvPr/>
        </p:nvSpPr>
        <p:spPr>
          <a:xfrm>
            <a:off x="447625" y="272659"/>
            <a:ext cx="7095979" cy="584775"/>
          </a:xfrm>
          <a:prstGeom prst="rect">
            <a:avLst/>
          </a:prstGeom>
          <a:noFill/>
        </p:spPr>
        <p:txBody>
          <a:bodyPr wrap="square">
            <a:spAutoFit/>
          </a:bodyPr>
          <a:lstStyle/>
          <a:p>
            <a:r>
              <a:rPr lang="en-US" sz="3200" dirty="0">
                <a:solidFill>
                  <a:srgbClr val="0070C0"/>
                </a:solidFill>
              </a:rPr>
              <a:t>Student Profile: Wilbur Wright College</a:t>
            </a:r>
          </a:p>
        </p:txBody>
      </p:sp>
      <p:graphicFrame>
        <p:nvGraphicFramePr>
          <p:cNvPr id="8" name="Table 7">
            <a:extLst>
              <a:ext uri="{FF2B5EF4-FFF2-40B4-BE49-F238E27FC236}">
                <a16:creationId xmlns:a16="http://schemas.microsoft.com/office/drawing/2014/main" id="{44E37CFE-8F0E-44BA-9914-2303C325A71A}"/>
              </a:ext>
            </a:extLst>
          </p:cNvPr>
          <p:cNvGraphicFramePr>
            <a:graphicFrameLocks noGrp="1"/>
          </p:cNvGraphicFramePr>
          <p:nvPr>
            <p:extLst>
              <p:ext uri="{D42A27DB-BD31-4B8C-83A1-F6EECF244321}">
                <p14:modId xmlns:p14="http://schemas.microsoft.com/office/powerpoint/2010/main" val="3418250813"/>
              </p:ext>
            </p:extLst>
          </p:nvPr>
        </p:nvGraphicFramePr>
        <p:xfrm>
          <a:off x="2963007" y="3057882"/>
          <a:ext cx="6157547" cy="1752666"/>
        </p:xfrm>
        <a:graphic>
          <a:graphicData uri="http://schemas.openxmlformats.org/drawingml/2006/table">
            <a:tbl>
              <a:tblPr firstRow="1" bandRow="1">
                <a:tableStyleId>{93296810-A885-4BE3-A3E7-6D5BEEA58F35}</a:tableStyleId>
              </a:tblPr>
              <a:tblGrid>
                <a:gridCol w="4703885">
                  <a:extLst>
                    <a:ext uri="{9D8B030D-6E8A-4147-A177-3AD203B41FA5}">
                      <a16:colId xmlns:a16="http://schemas.microsoft.com/office/drawing/2014/main" val="1922659933"/>
                    </a:ext>
                  </a:extLst>
                </a:gridCol>
                <a:gridCol w="1453662">
                  <a:extLst>
                    <a:ext uri="{9D8B030D-6E8A-4147-A177-3AD203B41FA5}">
                      <a16:colId xmlns:a16="http://schemas.microsoft.com/office/drawing/2014/main" val="3222356615"/>
                    </a:ext>
                  </a:extLst>
                </a:gridCol>
              </a:tblGrid>
              <a:tr h="381066">
                <a:tc>
                  <a:txBody>
                    <a:bodyPr/>
                    <a:lstStyle/>
                    <a:p>
                      <a:pPr algn="ctr">
                        <a:buNone/>
                      </a:pPr>
                      <a:r>
                        <a:rPr lang="en-US" dirty="0"/>
                        <a:t>Indicator</a:t>
                      </a:r>
                    </a:p>
                  </a:txBody>
                  <a:tcPr anchor="ctr"/>
                </a:tc>
                <a:tc>
                  <a:txBody>
                    <a:bodyPr/>
                    <a:lstStyle/>
                    <a:p>
                      <a:pPr algn="ctr"/>
                      <a:r>
                        <a:rPr lang="en-US" dirty="0"/>
                        <a:t>Statistic</a:t>
                      </a:r>
                    </a:p>
                  </a:txBody>
                  <a:tcPr/>
                </a:tc>
                <a:extLst>
                  <a:ext uri="{0D108BD9-81ED-4DB2-BD59-A6C34878D82A}">
                    <a16:rowId xmlns:a16="http://schemas.microsoft.com/office/drawing/2014/main" val="4239916236"/>
                  </a:ext>
                </a:extLst>
              </a:tr>
              <a:tr h="381066">
                <a:tc>
                  <a:txBody>
                    <a:bodyPr/>
                    <a:lstStyle/>
                    <a:p>
                      <a:pPr algn="l"/>
                      <a:r>
                        <a:rPr lang="en-US" dirty="0"/>
                        <a:t>Hispanic/Latinx Majority</a:t>
                      </a:r>
                    </a:p>
                    <a:p>
                      <a:pPr algn="l"/>
                      <a:r>
                        <a:rPr lang="en-US" sz="1400" dirty="0">
                          <a:hlinkClick r:id="rId2"/>
                        </a:rPr>
                        <a:t>https://content.ccc.edu/wrighthsi/</a:t>
                      </a:r>
                      <a:endParaRPr lang="en-US" sz="1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63%</a:t>
                      </a:r>
                    </a:p>
                  </a:txBody>
                  <a:tcPr/>
                </a:tc>
                <a:extLst>
                  <a:ext uri="{0D108BD9-81ED-4DB2-BD59-A6C34878D82A}">
                    <a16:rowId xmlns:a16="http://schemas.microsoft.com/office/drawing/2014/main" val="3832563889"/>
                  </a:ext>
                </a:extLst>
              </a:tr>
              <a:tr h="394936">
                <a:tc>
                  <a:txBody>
                    <a:bodyPr/>
                    <a:lstStyle/>
                    <a:p>
                      <a:pPr algn="l"/>
                      <a:r>
                        <a:rPr lang="en-US" dirty="0"/>
                        <a:t>Low-Income Student Population</a:t>
                      </a:r>
                    </a:p>
                    <a:p>
                      <a:pPr algn="l"/>
                      <a:r>
                        <a:rPr lang="en-US" sz="1400" dirty="0">
                          <a:hlinkClick r:id="rId3"/>
                        </a:rPr>
                        <a:t>https://carnegieclassifications.acenet.edu/institution/city-colleges-of-chicago-wilbur-wright-college/</a:t>
                      </a:r>
                      <a:endParaRPr lang="en-US" sz="1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47%</a:t>
                      </a:r>
                    </a:p>
                  </a:txBody>
                  <a:tcPr/>
                </a:tc>
                <a:extLst>
                  <a:ext uri="{0D108BD9-81ED-4DB2-BD59-A6C34878D82A}">
                    <a16:rowId xmlns:a16="http://schemas.microsoft.com/office/drawing/2014/main" val="313630498"/>
                  </a:ext>
                </a:extLst>
              </a:tr>
            </a:tbl>
          </a:graphicData>
        </a:graphic>
      </p:graphicFrame>
      <p:sp>
        <p:nvSpPr>
          <p:cNvPr id="13" name="TextBox 12">
            <a:extLst>
              <a:ext uri="{FF2B5EF4-FFF2-40B4-BE49-F238E27FC236}">
                <a16:creationId xmlns:a16="http://schemas.microsoft.com/office/drawing/2014/main" id="{38622721-4BA2-856A-8D62-B5CE837ACBC4}"/>
              </a:ext>
            </a:extLst>
          </p:cNvPr>
          <p:cNvSpPr txBox="1"/>
          <p:nvPr/>
        </p:nvSpPr>
        <p:spPr>
          <a:xfrm>
            <a:off x="447625" y="1168005"/>
            <a:ext cx="11296748" cy="1477328"/>
          </a:xfrm>
          <a:prstGeom prst="rect">
            <a:avLst/>
          </a:prstGeom>
          <a:noFill/>
        </p:spPr>
        <p:txBody>
          <a:bodyPr wrap="square">
            <a:spAutoFit/>
          </a:bodyPr>
          <a:lstStyle/>
          <a:p>
            <a:pPr marL="285750" indent="-285750">
              <a:buFont typeface="Wingdings" pitchFamily="2" charset="2"/>
              <a:buChar char="Ø"/>
            </a:pPr>
            <a:r>
              <a:rPr lang="en-US" dirty="0"/>
              <a:t>Wilbur Wright College, part of the City Colleges of Chicago (CCC) system, serves a student body that is approximately 62.9% Hispanic or Latino.</a:t>
            </a:r>
          </a:p>
          <a:p>
            <a:pPr marL="285750" indent="-285750">
              <a:buFont typeface="Wingdings" pitchFamily="2" charset="2"/>
              <a:buChar char="Ø"/>
            </a:pPr>
            <a:endParaRPr lang="en-US" dirty="0">
              <a:solidFill>
                <a:srgbClr val="1F1F1F"/>
              </a:solidFill>
              <a:latin typeface="Google Sans Flex"/>
            </a:endParaRPr>
          </a:p>
          <a:p>
            <a:pPr marL="285750" indent="-285750">
              <a:buFont typeface="Wingdings" pitchFamily="2" charset="2"/>
              <a:buChar char="Ø"/>
            </a:pPr>
            <a:r>
              <a:rPr lang="en-US" b="0" i="0" dirty="0">
                <a:solidFill>
                  <a:srgbClr val="1F1F1F"/>
                </a:solidFill>
                <a:effectLst/>
                <a:latin typeface="Google Sans Flex"/>
              </a:rPr>
              <a:t>This demographic reality is coupled with significant economic challenges; approximately 50% of the student population reports a </a:t>
            </a:r>
            <a:r>
              <a:rPr lang="en-US" b="0" i="0" dirty="0">
                <a:solidFill>
                  <a:srgbClr val="C00000"/>
                </a:solidFill>
                <a:effectLst/>
                <a:latin typeface="Google Sans Flex"/>
              </a:rPr>
              <a:t>household income of less than $30,000 annually</a:t>
            </a:r>
            <a:r>
              <a:rPr lang="en-US" b="0" i="0" dirty="0">
                <a:solidFill>
                  <a:srgbClr val="1F1F1F"/>
                </a:solidFill>
                <a:effectLst/>
                <a:latin typeface="Google Sans Flex"/>
              </a:rPr>
              <a:t>. </a:t>
            </a:r>
          </a:p>
        </p:txBody>
      </p:sp>
      <p:sp>
        <p:nvSpPr>
          <p:cNvPr id="17" name="TextBox 16">
            <a:extLst>
              <a:ext uri="{FF2B5EF4-FFF2-40B4-BE49-F238E27FC236}">
                <a16:creationId xmlns:a16="http://schemas.microsoft.com/office/drawing/2014/main" id="{69DC3AED-20E4-9968-650B-D79D36DFBCE4}"/>
              </a:ext>
            </a:extLst>
          </p:cNvPr>
          <p:cNvSpPr txBox="1"/>
          <p:nvPr/>
        </p:nvSpPr>
        <p:spPr>
          <a:xfrm>
            <a:off x="447625" y="5489940"/>
            <a:ext cx="10877844" cy="400110"/>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ctr"/>
            <a:r>
              <a:rPr lang="en-US" sz="2000" b="1" dirty="0">
                <a:solidFill>
                  <a:srgbClr val="C00000"/>
                </a:solidFill>
              </a:rPr>
              <a:t>Structural barriers </a:t>
            </a:r>
            <a:r>
              <a:rPr lang="en-US" sz="2000" b="1" dirty="0">
                <a:solidFill>
                  <a:schemeClr val="tx1"/>
                </a:solidFill>
              </a:rPr>
              <a:t>and</a:t>
            </a:r>
            <a:r>
              <a:rPr lang="en-US" sz="2000" b="1" dirty="0">
                <a:solidFill>
                  <a:srgbClr val="C00000"/>
                </a:solidFill>
              </a:rPr>
              <a:t> economic challenges </a:t>
            </a:r>
            <a:r>
              <a:rPr lang="en-US" sz="2000" b="1" i="0" dirty="0">
                <a:solidFill>
                  <a:srgbClr val="1F1F1F"/>
                </a:solidFill>
                <a:effectLst/>
                <a:latin typeface="Google Sans Flex"/>
              </a:rPr>
              <a:t>have historically impeded access to STEM careers.</a:t>
            </a:r>
            <a:endParaRPr lang="en-US" sz="2000" b="1" dirty="0"/>
          </a:p>
        </p:txBody>
      </p:sp>
    </p:spTree>
    <p:extLst>
      <p:ext uri="{BB962C8B-B14F-4D97-AF65-F5344CB8AC3E}">
        <p14:creationId xmlns:p14="http://schemas.microsoft.com/office/powerpoint/2010/main" val="6720144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87333A47-003F-968B-B0DA-28E0482BEA91}"/>
              </a:ext>
            </a:extLst>
          </p:cNvPr>
          <p:cNvGraphicFramePr>
            <a:graphicFrameLocks noGrp="1"/>
          </p:cNvGraphicFramePr>
          <p:nvPr>
            <p:extLst>
              <p:ext uri="{D42A27DB-BD31-4B8C-83A1-F6EECF244321}">
                <p14:modId xmlns:p14="http://schemas.microsoft.com/office/powerpoint/2010/main" val="1183502196"/>
              </p:ext>
            </p:extLst>
          </p:nvPr>
        </p:nvGraphicFramePr>
        <p:xfrm>
          <a:off x="4994031" y="1669326"/>
          <a:ext cx="4373489" cy="2198077"/>
        </p:xfrm>
        <a:graphic>
          <a:graphicData uri="http://schemas.openxmlformats.org/drawingml/2006/table">
            <a:tbl>
              <a:tblPr firstRow="1" bandRow="1">
                <a:tableStyleId>{93296810-A885-4BE3-A3E7-6D5BEEA58F35}</a:tableStyleId>
              </a:tblPr>
              <a:tblGrid>
                <a:gridCol w="2286781">
                  <a:extLst>
                    <a:ext uri="{9D8B030D-6E8A-4147-A177-3AD203B41FA5}">
                      <a16:colId xmlns:a16="http://schemas.microsoft.com/office/drawing/2014/main" val="1922659933"/>
                    </a:ext>
                  </a:extLst>
                </a:gridCol>
                <a:gridCol w="2086708">
                  <a:extLst>
                    <a:ext uri="{9D8B030D-6E8A-4147-A177-3AD203B41FA5}">
                      <a16:colId xmlns:a16="http://schemas.microsoft.com/office/drawing/2014/main" val="3222356615"/>
                    </a:ext>
                  </a:extLst>
                </a:gridCol>
              </a:tblGrid>
              <a:tr h="366890">
                <a:tc>
                  <a:txBody>
                    <a:bodyPr/>
                    <a:lstStyle/>
                    <a:p>
                      <a:r>
                        <a:rPr lang="en-US" dirty="0"/>
                        <a:t>Status at 150% Time</a:t>
                      </a:r>
                    </a:p>
                  </a:txBody>
                  <a:tcPr/>
                </a:tc>
                <a:tc>
                  <a:txBody>
                    <a:bodyPr/>
                    <a:lstStyle/>
                    <a:p>
                      <a:r>
                        <a:rPr lang="en-US" dirty="0"/>
                        <a:t>Percentage</a:t>
                      </a:r>
                    </a:p>
                  </a:txBody>
                  <a:tcPr/>
                </a:tc>
                <a:extLst>
                  <a:ext uri="{0D108BD9-81ED-4DB2-BD59-A6C34878D82A}">
                    <a16:rowId xmlns:a16="http://schemas.microsoft.com/office/drawing/2014/main" val="4239916236"/>
                  </a:ext>
                </a:extLst>
              </a:tr>
              <a:tr h="366890">
                <a:tc>
                  <a:txBody>
                    <a:bodyPr/>
                    <a:lstStyle/>
                    <a:p>
                      <a:r>
                        <a:rPr lang="en-US" dirty="0"/>
                        <a:t>Associate Degree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31</a:t>
                      </a:r>
                    </a:p>
                  </a:txBody>
                  <a:tcPr/>
                </a:tc>
                <a:extLst>
                  <a:ext uri="{0D108BD9-81ED-4DB2-BD59-A6C34878D82A}">
                    <a16:rowId xmlns:a16="http://schemas.microsoft.com/office/drawing/2014/main" val="3832563889"/>
                  </a:ext>
                </a:extLst>
              </a:tr>
              <a:tr h="488099">
                <a:tc>
                  <a:txBody>
                    <a:bodyPr/>
                    <a:lstStyle/>
                    <a:p>
                      <a:r>
                        <a:rPr lang="en-US" dirty="0"/>
                        <a:t>Transfer Out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15</a:t>
                      </a:r>
                    </a:p>
                  </a:txBody>
                  <a:tcPr/>
                </a:tc>
                <a:extLst>
                  <a:ext uri="{0D108BD9-81ED-4DB2-BD59-A6C34878D82A}">
                    <a16:rowId xmlns:a16="http://schemas.microsoft.com/office/drawing/2014/main" val="313630498"/>
                  </a:ext>
                </a:extLst>
              </a:tr>
              <a:tr h="48809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Dropped Out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40.42</a:t>
                      </a:r>
                    </a:p>
                  </a:txBody>
                  <a:tcPr/>
                </a:tc>
                <a:extLst>
                  <a:ext uri="{0D108BD9-81ED-4DB2-BD59-A6C34878D82A}">
                    <a16:rowId xmlns:a16="http://schemas.microsoft.com/office/drawing/2014/main" val="3511518195"/>
                  </a:ext>
                </a:extLst>
              </a:tr>
              <a:tr h="48809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Still Enrolled</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13.52</a:t>
                      </a:r>
                    </a:p>
                  </a:txBody>
                  <a:tcPr/>
                </a:tc>
                <a:extLst>
                  <a:ext uri="{0D108BD9-81ED-4DB2-BD59-A6C34878D82A}">
                    <a16:rowId xmlns:a16="http://schemas.microsoft.com/office/drawing/2014/main" val="3694484666"/>
                  </a:ext>
                </a:extLst>
              </a:tr>
            </a:tbl>
          </a:graphicData>
        </a:graphic>
      </p:graphicFrame>
      <p:sp>
        <p:nvSpPr>
          <p:cNvPr id="5" name="TextBox 4">
            <a:extLst>
              <a:ext uri="{FF2B5EF4-FFF2-40B4-BE49-F238E27FC236}">
                <a16:creationId xmlns:a16="http://schemas.microsoft.com/office/drawing/2014/main" id="{5B82EE4E-7D27-AA7E-A322-265177B63DBD}"/>
              </a:ext>
            </a:extLst>
          </p:cNvPr>
          <p:cNvSpPr txBox="1"/>
          <p:nvPr/>
        </p:nvSpPr>
        <p:spPr>
          <a:xfrm>
            <a:off x="388033" y="341422"/>
            <a:ext cx="6098344" cy="584775"/>
          </a:xfrm>
          <a:prstGeom prst="rect">
            <a:avLst/>
          </a:prstGeom>
          <a:noFill/>
        </p:spPr>
        <p:txBody>
          <a:bodyPr wrap="square">
            <a:spAutoFit/>
          </a:bodyPr>
          <a:lstStyle/>
          <a:p>
            <a:r>
              <a:rPr lang="en-US" sz="3200" dirty="0">
                <a:solidFill>
                  <a:srgbClr val="0070C0"/>
                </a:solidFill>
              </a:rPr>
              <a:t>Student Outcomes</a:t>
            </a:r>
          </a:p>
        </p:txBody>
      </p:sp>
      <p:sp>
        <p:nvSpPr>
          <p:cNvPr id="7" name="TextBox 6">
            <a:extLst>
              <a:ext uri="{FF2B5EF4-FFF2-40B4-BE49-F238E27FC236}">
                <a16:creationId xmlns:a16="http://schemas.microsoft.com/office/drawing/2014/main" id="{225E32B0-EE99-AAD2-D88A-6D2D6FB97722}"/>
              </a:ext>
            </a:extLst>
          </p:cNvPr>
          <p:cNvSpPr txBox="1"/>
          <p:nvPr/>
        </p:nvSpPr>
        <p:spPr>
          <a:xfrm>
            <a:off x="386862" y="4210422"/>
            <a:ext cx="7863840" cy="400110"/>
          </a:xfrm>
          <a:prstGeom prst="rect">
            <a:avLst/>
          </a:prstGeom>
          <a:noFill/>
        </p:spPr>
        <p:txBody>
          <a:bodyPr wrap="square">
            <a:spAutoFit/>
          </a:bodyPr>
          <a:lstStyle/>
          <a:p>
            <a:pPr marL="342900" indent="-342900">
              <a:buFont typeface="Wingdings" pitchFamily="2" charset="2"/>
              <a:buChar char="q"/>
            </a:pPr>
            <a:r>
              <a:rPr lang="en-US" sz="2000" dirty="0"/>
              <a:t>The largest group of students, over 40%, leave without completing.</a:t>
            </a:r>
          </a:p>
        </p:txBody>
      </p:sp>
      <p:sp>
        <p:nvSpPr>
          <p:cNvPr id="12" name="TextBox 11">
            <a:extLst>
              <a:ext uri="{FF2B5EF4-FFF2-40B4-BE49-F238E27FC236}">
                <a16:creationId xmlns:a16="http://schemas.microsoft.com/office/drawing/2014/main" id="{486EC15F-6F8F-743D-7BFC-8EEF706C9BF6}"/>
              </a:ext>
            </a:extLst>
          </p:cNvPr>
          <p:cNvSpPr txBox="1"/>
          <p:nvPr/>
        </p:nvSpPr>
        <p:spPr>
          <a:xfrm>
            <a:off x="248527" y="1256135"/>
            <a:ext cx="4233204" cy="369332"/>
          </a:xfrm>
          <a:prstGeom prst="rect">
            <a:avLst/>
          </a:prstGeom>
          <a:noFill/>
        </p:spPr>
        <p:txBody>
          <a:bodyPr wrap="square">
            <a:spAutoFit/>
          </a:bodyPr>
          <a:lstStyle/>
          <a:p>
            <a:r>
              <a:rPr lang="en-US" dirty="0"/>
              <a:t>Normal associate degree time = </a:t>
            </a:r>
            <a:r>
              <a:rPr lang="en-US" b="1" dirty="0"/>
              <a:t>2 years</a:t>
            </a:r>
            <a:endParaRPr lang="en-US" dirty="0"/>
          </a:p>
        </p:txBody>
      </p:sp>
      <p:sp>
        <p:nvSpPr>
          <p:cNvPr id="14" name="TextBox 13">
            <a:extLst>
              <a:ext uri="{FF2B5EF4-FFF2-40B4-BE49-F238E27FC236}">
                <a16:creationId xmlns:a16="http://schemas.microsoft.com/office/drawing/2014/main" id="{916508E9-0EC8-AD8C-AFED-BB4170E4693F}"/>
              </a:ext>
            </a:extLst>
          </p:cNvPr>
          <p:cNvSpPr txBox="1"/>
          <p:nvPr/>
        </p:nvSpPr>
        <p:spPr>
          <a:xfrm>
            <a:off x="2176975" y="1638250"/>
            <a:ext cx="2304756" cy="369332"/>
          </a:xfrm>
          <a:prstGeom prst="rect">
            <a:avLst/>
          </a:prstGeom>
          <a:noFill/>
        </p:spPr>
        <p:txBody>
          <a:bodyPr wrap="square">
            <a:spAutoFit/>
          </a:bodyPr>
          <a:lstStyle/>
          <a:p>
            <a:r>
              <a:rPr lang="en-US" dirty="0"/>
              <a:t>150% time = </a:t>
            </a:r>
            <a:r>
              <a:rPr lang="en-US" b="1" dirty="0"/>
              <a:t>3 years</a:t>
            </a:r>
            <a:endParaRPr lang="en-US" dirty="0"/>
          </a:p>
        </p:txBody>
      </p:sp>
      <p:cxnSp>
        <p:nvCxnSpPr>
          <p:cNvPr id="16" name="Straight Arrow Connector 15">
            <a:extLst>
              <a:ext uri="{FF2B5EF4-FFF2-40B4-BE49-F238E27FC236}">
                <a16:creationId xmlns:a16="http://schemas.microsoft.com/office/drawing/2014/main" id="{469C9678-A83C-D191-2C97-52EC78F7DD88}"/>
              </a:ext>
            </a:extLst>
          </p:cNvPr>
          <p:cNvCxnSpPr/>
          <p:nvPr/>
        </p:nvCxnSpPr>
        <p:spPr>
          <a:xfrm>
            <a:off x="4318782" y="1845167"/>
            <a:ext cx="576775"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8" name="TextBox 17">
            <a:extLst>
              <a:ext uri="{FF2B5EF4-FFF2-40B4-BE49-F238E27FC236}">
                <a16:creationId xmlns:a16="http://schemas.microsoft.com/office/drawing/2014/main" id="{E5BE7A3C-D0E6-069C-10E5-684A0EFEA860}"/>
              </a:ext>
            </a:extLst>
          </p:cNvPr>
          <p:cNvSpPr txBox="1"/>
          <p:nvPr/>
        </p:nvSpPr>
        <p:spPr>
          <a:xfrm>
            <a:off x="126609" y="4850418"/>
            <a:ext cx="5267178" cy="369332"/>
          </a:xfrm>
          <a:prstGeom prst="rect">
            <a:avLst/>
          </a:prstGeom>
          <a:noFill/>
        </p:spPr>
        <p:txBody>
          <a:bodyPr wrap="square">
            <a:spAutoFit/>
          </a:bodyPr>
          <a:lstStyle/>
          <a:p>
            <a:pPr algn="ctr"/>
            <a:r>
              <a:rPr lang="en-US" sz="1800" dirty="0">
                <a:solidFill>
                  <a:schemeClr val="tx1"/>
                </a:solidFill>
              </a:rPr>
              <a:t>What </a:t>
            </a:r>
            <a:r>
              <a:rPr lang="en-US" dirty="0"/>
              <a:t>affects students’ ability to persist ?</a:t>
            </a:r>
            <a:endParaRPr lang="en-US" sz="1800" dirty="0">
              <a:solidFill>
                <a:schemeClr val="tx1"/>
              </a:solidFill>
            </a:endParaRPr>
          </a:p>
        </p:txBody>
      </p:sp>
      <p:sp>
        <p:nvSpPr>
          <p:cNvPr id="20" name="TextBox 19">
            <a:extLst>
              <a:ext uri="{FF2B5EF4-FFF2-40B4-BE49-F238E27FC236}">
                <a16:creationId xmlns:a16="http://schemas.microsoft.com/office/drawing/2014/main" id="{3CA82899-D19E-A53C-7FCA-9C3A5FF8F8BE}"/>
              </a:ext>
            </a:extLst>
          </p:cNvPr>
          <p:cNvSpPr txBox="1"/>
          <p:nvPr/>
        </p:nvSpPr>
        <p:spPr>
          <a:xfrm>
            <a:off x="662206" y="5309327"/>
            <a:ext cx="10867587" cy="923330"/>
          </a:xfrm>
          <a:prstGeom prst="rect">
            <a:avLst/>
          </a:prstGeom>
          <a:noFill/>
        </p:spPr>
        <p:txBody>
          <a:bodyPr wrap="square">
            <a:spAutoFit/>
          </a:bodyPr>
          <a:lstStyle/>
          <a:p>
            <a:pPr marL="285750" indent="-285750">
              <a:buFont typeface="Wingdings" pitchFamily="2" charset="2"/>
              <a:buChar char="Ø"/>
            </a:pPr>
            <a:r>
              <a:rPr lang="en-US" dirty="0"/>
              <a:t>A</a:t>
            </a:r>
            <a:r>
              <a:rPr lang="en-US" sz="1800" dirty="0">
                <a:solidFill>
                  <a:schemeClr val="tx1"/>
                </a:solidFill>
              </a:rPr>
              <a:t>cademic challenges (such as </a:t>
            </a:r>
            <a:r>
              <a:rPr lang="en-US" dirty="0"/>
              <a:t>limited preparation for college-level coursework) </a:t>
            </a:r>
          </a:p>
          <a:p>
            <a:r>
              <a:rPr lang="en-US" sz="1800" b="1" dirty="0">
                <a:solidFill>
                  <a:schemeClr val="tx1"/>
                </a:solidFill>
              </a:rPr>
              <a:t>		OR</a:t>
            </a:r>
            <a:r>
              <a:rPr lang="en-US" sz="1800" dirty="0">
                <a:solidFill>
                  <a:schemeClr val="tx1"/>
                </a:solidFill>
              </a:rPr>
              <a:t> </a:t>
            </a:r>
          </a:p>
          <a:p>
            <a:pPr marL="285750" indent="-285750">
              <a:buFont typeface="Wingdings" pitchFamily="2" charset="2"/>
              <a:buChar char="Ø"/>
            </a:pPr>
            <a:r>
              <a:rPr lang="en-US" dirty="0"/>
              <a:t>External constraints (such as work, financial pressure, and family obligations)?</a:t>
            </a:r>
          </a:p>
        </p:txBody>
      </p:sp>
    </p:spTree>
    <p:extLst>
      <p:ext uri="{BB962C8B-B14F-4D97-AF65-F5344CB8AC3E}">
        <p14:creationId xmlns:p14="http://schemas.microsoft.com/office/powerpoint/2010/main" val="17984349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87A2CF-EC65-C0F5-2D9F-40ED1121EB29}"/>
            </a:ext>
          </a:extLst>
        </p:cNvPr>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900CB150-43E2-A6A9-0C5C-84D1BA7C922B}"/>
              </a:ext>
            </a:extLst>
          </p:cNvPr>
          <p:cNvGraphicFramePr>
            <a:graphicFrameLocks noGrp="1"/>
          </p:cNvGraphicFramePr>
          <p:nvPr/>
        </p:nvGraphicFramePr>
        <p:xfrm>
          <a:off x="3940710" y="1652611"/>
          <a:ext cx="4310577" cy="1631511"/>
        </p:xfrm>
        <a:graphic>
          <a:graphicData uri="http://schemas.openxmlformats.org/drawingml/2006/table">
            <a:tbl>
              <a:tblPr firstRow="1" bandRow="1">
                <a:tableStyleId>{93296810-A885-4BE3-A3E7-6D5BEEA58F35}</a:tableStyleId>
              </a:tblPr>
              <a:tblGrid>
                <a:gridCol w="2453641">
                  <a:extLst>
                    <a:ext uri="{9D8B030D-6E8A-4147-A177-3AD203B41FA5}">
                      <a16:colId xmlns:a16="http://schemas.microsoft.com/office/drawing/2014/main" val="3556932893"/>
                    </a:ext>
                  </a:extLst>
                </a:gridCol>
                <a:gridCol w="1856936">
                  <a:extLst>
                    <a:ext uri="{9D8B030D-6E8A-4147-A177-3AD203B41FA5}">
                      <a16:colId xmlns:a16="http://schemas.microsoft.com/office/drawing/2014/main" val="2398321112"/>
                    </a:ext>
                  </a:extLst>
                </a:gridCol>
              </a:tblGrid>
              <a:tr h="54383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Enrollment Status</a:t>
                      </a:r>
                      <a:r>
                        <a:rPr lang="en-US" dirty="0"/>
                        <a:t>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Retention Rate</a:t>
                      </a:r>
                    </a:p>
                  </a:txBody>
                  <a:tcPr/>
                </a:tc>
                <a:extLst>
                  <a:ext uri="{0D108BD9-81ED-4DB2-BD59-A6C34878D82A}">
                    <a16:rowId xmlns:a16="http://schemas.microsoft.com/office/drawing/2014/main" val="3329751456"/>
                  </a:ext>
                </a:extLst>
              </a:tr>
              <a:tr h="54383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Full time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72%</a:t>
                      </a:r>
                    </a:p>
                  </a:txBody>
                  <a:tcPr/>
                </a:tc>
                <a:extLst>
                  <a:ext uri="{0D108BD9-81ED-4DB2-BD59-A6C34878D82A}">
                    <a16:rowId xmlns:a16="http://schemas.microsoft.com/office/drawing/2014/main" val="4261782784"/>
                  </a:ext>
                </a:extLst>
              </a:tr>
              <a:tr h="54383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Part time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51%</a:t>
                      </a:r>
                    </a:p>
                  </a:txBody>
                  <a:tcPr/>
                </a:tc>
                <a:extLst>
                  <a:ext uri="{0D108BD9-81ED-4DB2-BD59-A6C34878D82A}">
                    <a16:rowId xmlns:a16="http://schemas.microsoft.com/office/drawing/2014/main" val="3505863956"/>
                  </a:ext>
                </a:extLst>
              </a:tr>
            </a:tbl>
          </a:graphicData>
        </a:graphic>
      </p:graphicFrame>
      <p:sp>
        <p:nvSpPr>
          <p:cNvPr id="4" name="TextBox 3">
            <a:extLst>
              <a:ext uri="{FF2B5EF4-FFF2-40B4-BE49-F238E27FC236}">
                <a16:creationId xmlns:a16="http://schemas.microsoft.com/office/drawing/2014/main" id="{86F450F1-C8FC-A9BE-9789-4B08A897AA26}"/>
              </a:ext>
            </a:extLst>
          </p:cNvPr>
          <p:cNvSpPr txBox="1"/>
          <p:nvPr/>
        </p:nvSpPr>
        <p:spPr>
          <a:xfrm>
            <a:off x="430237" y="342451"/>
            <a:ext cx="7666307" cy="584775"/>
          </a:xfrm>
          <a:prstGeom prst="rect">
            <a:avLst/>
          </a:prstGeom>
          <a:noFill/>
        </p:spPr>
        <p:txBody>
          <a:bodyPr wrap="square">
            <a:spAutoFit/>
          </a:bodyPr>
          <a:lstStyle/>
          <a:p>
            <a:pPr lvl="0">
              <a:defRPr/>
            </a:pPr>
            <a:r>
              <a:rPr lang="en-US" sz="3200" dirty="0">
                <a:solidFill>
                  <a:srgbClr val="0070C0"/>
                </a:solidFill>
              </a:rPr>
              <a:t>Retention Rates by Enrollment Status</a:t>
            </a:r>
          </a:p>
        </p:txBody>
      </p:sp>
      <p:sp>
        <p:nvSpPr>
          <p:cNvPr id="6" name="TextBox 5">
            <a:extLst>
              <a:ext uri="{FF2B5EF4-FFF2-40B4-BE49-F238E27FC236}">
                <a16:creationId xmlns:a16="http://schemas.microsoft.com/office/drawing/2014/main" id="{7BD01DB5-C681-F2EA-B0C5-CC285006203D}"/>
              </a:ext>
            </a:extLst>
          </p:cNvPr>
          <p:cNvSpPr txBox="1"/>
          <p:nvPr/>
        </p:nvSpPr>
        <p:spPr>
          <a:xfrm>
            <a:off x="597874" y="3410634"/>
            <a:ext cx="8813412" cy="400110"/>
          </a:xfrm>
          <a:prstGeom prst="rect">
            <a:avLst/>
          </a:prstGeom>
          <a:noFill/>
        </p:spPr>
        <p:txBody>
          <a:bodyPr wrap="square">
            <a:spAutoFit/>
          </a:bodyPr>
          <a:lstStyle/>
          <a:p>
            <a:pPr marL="285750" indent="-285750">
              <a:buFont typeface="Wingdings" pitchFamily="2" charset="2"/>
              <a:buChar char="Ø"/>
            </a:pPr>
            <a:r>
              <a:rPr lang="en-US" sz="2000" dirty="0"/>
              <a:t>Part-time students are at significantly higher risk of leaving</a:t>
            </a:r>
            <a:r>
              <a:rPr lang="en-US" dirty="0"/>
              <a:t>.</a:t>
            </a:r>
          </a:p>
        </p:txBody>
      </p:sp>
      <p:sp>
        <p:nvSpPr>
          <p:cNvPr id="8" name="TextBox 7">
            <a:extLst>
              <a:ext uri="{FF2B5EF4-FFF2-40B4-BE49-F238E27FC236}">
                <a16:creationId xmlns:a16="http://schemas.microsoft.com/office/drawing/2014/main" id="{CA8E0636-920A-8277-EE34-F01BD37A1087}"/>
              </a:ext>
            </a:extLst>
          </p:cNvPr>
          <p:cNvSpPr txBox="1"/>
          <p:nvPr/>
        </p:nvSpPr>
        <p:spPr>
          <a:xfrm>
            <a:off x="430237" y="903251"/>
            <a:ext cx="11144544" cy="646331"/>
          </a:xfrm>
          <a:prstGeom prst="rect">
            <a:avLst/>
          </a:prstGeom>
          <a:noFill/>
        </p:spPr>
        <p:txBody>
          <a:bodyPr wrap="square">
            <a:spAutoFit/>
          </a:bodyPr>
          <a:lstStyle/>
          <a:p>
            <a:r>
              <a:rPr lang="en-US" dirty="0"/>
              <a:t>Retention Rate: The percentage of first-time students who return to the same institution in the next academic term or year.</a:t>
            </a:r>
          </a:p>
        </p:txBody>
      </p:sp>
      <p:sp>
        <p:nvSpPr>
          <p:cNvPr id="10" name="TextBox 9">
            <a:extLst>
              <a:ext uri="{FF2B5EF4-FFF2-40B4-BE49-F238E27FC236}">
                <a16:creationId xmlns:a16="http://schemas.microsoft.com/office/drawing/2014/main" id="{660F51FA-FA62-8A2A-1C38-30E178F01CE5}"/>
              </a:ext>
            </a:extLst>
          </p:cNvPr>
          <p:cNvSpPr txBox="1"/>
          <p:nvPr/>
        </p:nvSpPr>
        <p:spPr>
          <a:xfrm>
            <a:off x="1654711" y="3906478"/>
            <a:ext cx="9242474" cy="400110"/>
          </a:xfrm>
          <a:prstGeom prst="rect">
            <a:avLst/>
          </a:prstGeom>
          <a:noFill/>
        </p:spPr>
        <p:txBody>
          <a:bodyPr wrap="square">
            <a:spAutoFit/>
          </a:bodyPr>
          <a:lstStyle/>
          <a:p>
            <a:pPr>
              <a:buNone/>
            </a:pPr>
            <a:r>
              <a:rPr lang="en-US" dirty="0"/>
              <a:t> </a:t>
            </a:r>
            <a:r>
              <a:rPr lang="en-US" sz="2000" b="1" dirty="0"/>
              <a:t>This pattern points to </a:t>
            </a:r>
            <a:r>
              <a:rPr lang="en-US" sz="2000" b="1" dirty="0">
                <a:solidFill>
                  <a:srgbClr val="C00000"/>
                </a:solidFill>
              </a:rPr>
              <a:t>structural constraints </a:t>
            </a:r>
            <a:r>
              <a:rPr lang="en-US" sz="2000" b="1" dirty="0"/>
              <a:t>rather than differences in ability.</a:t>
            </a:r>
            <a:endParaRPr lang="en-US" sz="2000" dirty="0"/>
          </a:p>
        </p:txBody>
      </p:sp>
      <p:sp>
        <p:nvSpPr>
          <p:cNvPr id="3" name="TextBox 2">
            <a:extLst>
              <a:ext uri="{FF2B5EF4-FFF2-40B4-BE49-F238E27FC236}">
                <a16:creationId xmlns:a16="http://schemas.microsoft.com/office/drawing/2014/main" id="{39A0DAF5-0809-4D97-4CD7-3149EB409C9E}"/>
              </a:ext>
            </a:extLst>
          </p:cNvPr>
          <p:cNvSpPr txBox="1"/>
          <p:nvPr/>
        </p:nvSpPr>
        <p:spPr>
          <a:xfrm>
            <a:off x="430237" y="4433100"/>
            <a:ext cx="11422965" cy="923330"/>
          </a:xfrm>
          <a:prstGeom prst="rect">
            <a:avLst/>
          </a:prstGeom>
          <a:noFill/>
        </p:spPr>
        <p:txBody>
          <a:bodyPr wrap="square">
            <a:spAutoFit/>
          </a:bodyPr>
          <a:lstStyle/>
          <a:p>
            <a:r>
              <a:rPr lang="en-US" dirty="0"/>
              <a:t>The retention gap shows that part-time students are significantly less likely to persist compared to full-time students. This suggests that the main challenge is not academic ability, but the structural constraints many students face while balancing work, family, and education.</a:t>
            </a:r>
          </a:p>
        </p:txBody>
      </p:sp>
      <p:grpSp>
        <p:nvGrpSpPr>
          <p:cNvPr id="13" name="Group 12">
            <a:extLst>
              <a:ext uri="{FF2B5EF4-FFF2-40B4-BE49-F238E27FC236}">
                <a16:creationId xmlns:a16="http://schemas.microsoft.com/office/drawing/2014/main" id="{4B5E8E6B-6831-6978-0CE0-8E8914685D71}"/>
              </a:ext>
            </a:extLst>
          </p:cNvPr>
          <p:cNvGrpSpPr/>
          <p:nvPr/>
        </p:nvGrpSpPr>
        <p:grpSpPr>
          <a:xfrm>
            <a:off x="544526" y="5352426"/>
            <a:ext cx="11642052" cy="1163123"/>
            <a:chOff x="274974" y="5356429"/>
            <a:chExt cx="11642052" cy="1163123"/>
          </a:xfrm>
        </p:grpSpPr>
        <p:sp>
          <p:nvSpPr>
            <p:cNvPr id="5" name="TextBox 4">
              <a:extLst>
                <a:ext uri="{FF2B5EF4-FFF2-40B4-BE49-F238E27FC236}">
                  <a16:creationId xmlns:a16="http://schemas.microsoft.com/office/drawing/2014/main" id="{C098ED0B-A556-5554-83E5-AD7501383384}"/>
                </a:ext>
              </a:extLst>
            </p:cNvPr>
            <p:cNvSpPr txBox="1"/>
            <p:nvPr/>
          </p:nvSpPr>
          <p:spPr>
            <a:xfrm>
              <a:off x="274974" y="5688400"/>
              <a:ext cx="4631790" cy="523220"/>
            </a:xfrm>
            <a:prstGeom prst="rect">
              <a:avLst/>
            </a:prstGeom>
            <a:noFill/>
          </p:spPr>
          <p:txBody>
            <a:bodyPr wrap="square">
              <a:spAutoFit/>
            </a:bodyPr>
            <a:lstStyle/>
            <a:p>
              <a:r>
                <a:rPr lang="en-US" sz="2800" dirty="0"/>
                <a:t>How big is this problem?</a:t>
              </a:r>
            </a:p>
          </p:txBody>
        </p:sp>
        <p:sp>
          <p:nvSpPr>
            <p:cNvPr id="9" name="Right Arrow 8">
              <a:extLst>
                <a:ext uri="{FF2B5EF4-FFF2-40B4-BE49-F238E27FC236}">
                  <a16:creationId xmlns:a16="http://schemas.microsoft.com/office/drawing/2014/main" id="{5E85BEB4-424B-1838-2E5E-EDFDBC1DE379}"/>
                </a:ext>
              </a:extLst>
            </p:cNvPr>
            <p:cNvSpPr/>
            <p:nvPr/>
          </p:nvSpPr>
          <p:spPr>
            <a:xfrm>
              <a:off x="4263390" y="5764558"/>
              <a:ext cx="557992" cy="42845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BB94EC51-6612-7206-DB47-21AEC7F23ABC}"/>
                </a:ext>
              </a:extLst>
            </p:cNvPr>
            <p:cNvGrpSpPr/>
            <p:nvPr/>
          </p:nvGrpSpPr>
          <p:grpSpPr>
            <a:xfrm>
              <a:off x="4821382" y="5356429"/>
              <a:ext cx="7095644" cy="1163123"/>
              <a:chOff x="4821382" y="5356429"/>
              <a:chExt cx="7095644" cy="1163123"/>
            </a:xfrm>
          </p:grpSpPr>
          <p:pic>
            <p:nvPicPr>
              <p:cNvPr id="7" name="Picture 6">
                <a:extLst>
                  <a:ext uri="{FF2B5EF4-FFF2-40B4-BE49-F238E27FC236}">
                    <a16:creationId xmlns:a16="http://schemas.microsoft.com/office/drawing/2014/main" id="{ED469FFB-BC8F-DADA-FE75-EFC2BC835279}"/>
                  </a:ext>
                </a:extLst>
              </p:cNvPr>
              <p:cNvPicPr>
                <a:picLocks noChangeAspect="1"/>
              </p:cNvPicPr>
              <p:nvPr/>
            </p:nvPicPr>
            <p:blipFill>
              <a:blip r:embed="rId2"/>
              <a:stretch>
                <a:fillRect/>
              </a:stretch>
            </p:blipFill>
            <p:spPr>
              <a:xfrm>
                <a:off x="4821382" y="5525396"/>
                <a:ext cx="7095644" cy="906780"/>
              </a:xfrm>
              <a:prstGeom prst="rect">
                <a:avLst/>
              </a:prstGeom>
            </p:spPr>
          </p:pic>
          <p:sp>
            <p:nvSpPr>
              <p:cNvPr id="11" name="Rounded Rectangle 10">
                <a:extLst>
                  <a:ext uri="{FF2B5EF4-FFF2-40B4-BE49-F238E27FC236}">
                    <a16:creationId xmlns:a16="http://schemas.microsoft.com/office/drawing/2014/main" id="{6B7B7B46-721F-4D01-B685-5F1C77073233}"/>
                  </a:ext>
                </a:extLst>
              </p:cNvPr>
              <p:cNvSpPr/>
              <p:nvPr/>
            </p:nvSpPr>
            <p:spPr>
              <a:xfrm>
                <a:off x="10652165" y="5356429"/>
                <a:ext cx="1116281" cy="1163123"/>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Tree>
    <p:extLst>
      <p:ext uri="{BB962C8B-B14F-4D97-AF65-F5344CB8AC3E}">
        <p14:creationId xmlns:p14="http://schemas.microsoft.com/office/powerpoint/2010/main" val="15364168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A12958C-1145-6867-D599-D5ACBBD9E1A0}"/>
              </a:ext>
            </a:extLst>
          </p:cNvPr>
          <p:cNvSpPr txBox="1"/>
          <p:nvPr/>
        </p:nvSpPr>
        <p:spPr>
          <a:xfrm>
            <a:off x="767861" y="1720840"/>
            <a:ext cx="10656277" cy="3847207"/>
          </a:xfrm>
          <a:prstGeom prst="rect">
            <a:avLst/>
          </a:prstGeom>
          <a:noFill/>
        </p:spPr>
        <p:txBody>
          <a:bodyPr wrap="square">
            <a:spAutoFit/>
          </a:bodyPr>
          <a:lstStyle/>
          <a:p>
            <a:r>
              <a:rPr lang="en-US" sz="2800" dirty="0">
                <a:solidFill>
                  <a:srgbClr val="0070C0"/>
                </a:solidFill>
              </a:rPr>
              <a:t>Student Challenges and Potential Supports</a:t>
            </a:r>
          </a:p>
          <a:p>
            <a:endParaRPr lang="en-US" dirty="0"/>
          </a:p>
          <a:p>
            <a:r>
              <a:rPr lang="en-US" b="1" u="sng" dirty="0">
                <a:solidFill>
                  <a:srgbClr val="0070C0"/>
                </a:solidFill>
              </a:rPr>
              <a:t>Challenge</a:t>
            </a:r>
            <a:r>
              <a:rPr lang="en-US" b="1" dirty="0">
                <a:solidFill>
                  <a:srgbClr val="0070C0"/>
                </a:solidFill>
              </a:rPr>
              <a:t>: </a:t>
            </a:r>
            <a:r>
              <a:rPr lang="en-US" dirty="0"/>
              <a:t>Students face significant financial and family responsibilities, requiring them to work while attending school, which limits the time and energy they can devote to their studies.</a:t>
            </a:r>
          </a:p>
          <a:p>
            <a:r>
              <a:rPr lang="en-US" b="1" u="sng" dirty="0">
                <a:solidFill>
                  <a:srgbClr val="0070C0"/>
                </a:solidFill>
              </a:rPr>
              <a:t>Support</a:t>
            </a:r>
            <a:r>
              <a:rPr lang="en-US" b="1" dirty="0">
                <a:solidFill>
                  <a:srgbClr val="0070C0"/>
                </a:solidFill>
              </a:rPr>
              <a:t>: </a:t>
            </a:r>
            <a:r>
              <a:rPr lang="en-US" dirty="0"/>
              <a:t>Providing </a:t>
            </a:r>
            <a:r>
              <a:rPr lang="en-US" dirty="0">
                <a:solidFill>
                  <a:srgbClr val="C00000"/>
                </a:solidFill>
              </a:rPr>
              <a:t>access to internships and paid opportunities</a:t>
            </a:r>
            <a:r>
              <a:rPr lang="en-US" dirty="0"/>
              <a:t> can help align their financial needs with their academic and career development.</a:t>
            </a:r>
          </a:p>
          <a:p>
            <a:endParaRPr lang="en-US" dirty="0"/>
          </a:p>
          <a:p>
            <a:r>
              <a:rPr lang="en-US" b="1" u="sng" dirty="0">
                <a:solidFill>
                  <a:srgbClr val="0070C0"/>
                </a:solidFill>
              </a:rPr>
              <a:t>Challenge</a:t>
            </a:r>
            <a:r>
              <a:rPr lang="en-US" b="1" dirty="0">
                <a:solidFill>
                  <a:srgbClr val="0070C0"/>
                </a:solidFill>
              </a:rPr>
              <a:t>: </a:t>
            </a:r>
            <a:r>
              <a:rPr lang="en-US" dirty="0"/>
              <a:t>Students often experience disengagement and a lack of motivation, rooted in a limited scientific identity.</a:t>
            </a:r>
          </a:p>
          <a:p>
            <a:r>
              <a:rPr lang="en-US" b="1" u="sng" dirty="0">
                <a:solidFill>
                  <a:srgbClr val="0070C0"/>
                </a:solidFill>
              </a:rPr>
              <a:t>Support</a:t>
            </a:r>
            <a:r>
              <a:rPr lang="en-US" b="1" dirty="0">
                <a:solidFill>
                  <a:srgbClr val="0070C0"/>
                </a:solidFill>
              </a:rPr>
              <a:t>: </a:t>
            </a:r>
            <a:r>
              <a:rPr lang="en-US" dirty="0"/>
              <a:t>Meaningful </a:t>
            </a:r>
            <a:r>
              <a:rPr lang="en-US" dirty="0">
                <a:solidFill>
                  <a:srgbClr val="C00000"/>
                </a:solidFill>
              </a:rPr>
              <a:t>exposure </a:t>
            </a:r>
            <a:r>
              <a:rPr lang="en-US" dirty="0"/>
              <a:t>to scientists, engineers, and real-world applications can help strengthen connection and interest.</a:t>
            </a:r>
          </a:p>
          <a:p>
            <a:endParaRPr lang="en-US" dirty="0"/>
          </a:p>
          <a:p>
            <a:endParaRPr lang="en-US" dirty="0"/>
          </a:p>
        </p:txBody>
      </p:sp>
    </p:spTree>
    <p:extLst>
      <p:ext uri="{BB962C8B-B14F-4D97-AF65-F5344CB8AC3E}">
        <p14:creationId xmlns:p14="http://schemas.microsoft.com/office/powerpoint/2010/main" val="3397520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2519E2A-4AB9-FD26-B602-E6BBB9870B86}"/>
              </a:ext>
            </a:extLst>
          </p:cNvPr>
          <p:cNvSpPr txBox="1"/>
          <p:nvPr/>
        </p:nvSpPr>
        <p:spPr>
          <a:xfrm>
            <a:off x="2188292" y="553689"/>
            <a:ext cx="8909667" cy="584775"/>
          </a:xfrm>
          <a:prstGeom prst="rect">
            <a:avLst/>
          </a:prstGeom>
          <a:noFill/>
        </p:spPr>
        <p:txBody>
          <a:bodyPr wrap="square" rtlCol="0">
            <a:spAutoFit/>
          </a:bodyPr>
          <a:lstStyle/>
          <a:p>
            <a:r>
              <a:rPr lang="en-US" sz="3200" dirty="0">
                <a:solidFill>
                  <a:srgbClr val="C00000"/>
                </a:solidFill>
              </a:rPr>
              <a:t>ARGONNE NATIONAL LAB CAN HELP! </a:t>
            </a:r>
          </a:p>
        </p:txBody>
      </p:sp>
      <p:grpSp>
        <p:nvGrpSpPr>
          <p:cNvPr id="16" name="Group 15">
            <a:extLst>
              <a:ext uri="{FF2B5EF4-FFF2-40B4-BE49-F238E27FC236}">
                <a16:creationId xmlns:a16="http://schemas.microsoft.com/office/drawing/2014/main" id="{FC7C76B4-7095-5115-79CD-B5E1690F41AE}"/>
              </a:ext>
            </a:extLst>
          </p:cNvPr>
          <p:cNvGrpSpPr/>
          <p:nvPr/>
        </p:nvGrpSpPr>
        <p:grpSpPr>
          <a:xfrm>
            <a:off x="328117" y="1499189"/>
            <a:ext cx="11723482" cy="4727130"/>
            <a:chOff x="304671" y="1065435"/>
            <a:chExt cx="11723482" cy="4727130"/>
          </a:xfrm>
        </p:grpSpPr>
        <p:pic>
          <p:nvPicPr>
            <p:cNvPr id="2" name="Picture 1">
              <a:extLst>
                <a:ext uri="{FF2B5EF4-FFF2-40B4-BE49-F238E27FC236}">
                  <a16:creationId xmlns:a16="http://schemas.microsoft.com/office/drawing/2014/main" id="{E980C7FE-6AE8-B724-AC1E-5433EB7FD290}"/>
                </a:ext>
              </a:extLst>
            </p:cNvPr>
            <p:cNvPicPr>
              <a:picLocks noChangeAspect="1"/>
            </p:cNvPicPr>
            <p:nvPr/>
          </p:nvPicPr>
          <p:blipFill>
            <a:blip r:embed="rId2"/>
            <a:stretch>
              <a:fillRect/>
            </a:stretch>
          </p:blipFill>
          <p:spPr>
            <a:xfrm>
              <a:off x="571809" y="2050804"/>
              <a:ext cx="3960495" cy="2977515"/>
            </a:xfrm>
            <a:prstGeom prst="rect">
              <a:avLst/>
            </a:prstGeom>
          </p:spPr>
        </p:pic>
        <p:sp>
          <p:nvSpPr>
            <p:cNvPr id="4" name="TextBox 3">
              <a:extLst>
                <a:ext uri="{FF2B5EF4-FFF2-40B4-BE49-F238E27FC236}">
                  <a16:creationId xmlns:a16="http://schemas.microsoft.com/office/drawing/2014/main" id="{366FADD7-008D-B168-136C-954C885920AF}"/>
                </a:ext>
              </a:extLst>
            </p:cNvPr>
            <p:cNvSpPr txBox="1"/>
            <p:nvPr/>
          </p:nvSpPr>
          <p:spPr>
            <a:xfrm>
              <a:off x="5433369" y="1065435"/>
              <a:ext cx="6458797" cy="923330"/>
            </a:xfrm>
            <a:prstGeom prst="rect">
              <a:avLst/>
            </a:prstGeom>
            <a:noFill/>
          </p:spPr>
          <p:txBody>
            <a:bodyPr wrap="square">
              <a:spAutoFit/>
            </a:bodyPr>
            <a:lstStyle/>
            <a:p>
              <a:r>
                <a:rPr lang="en-US" dirty="0"/>
                <a:t>Argonne is a DOE multidisciplinary science and engineering research center that solves grand challenges in energy, the environment, and national security. </a:t>
              </a:r>
            </a:p>
          </p:txBody>
        </p:sp>
        <p:sp>
          <p:nvSpPr>
            <p:cNvPr id="6" name="TextBox 5">
              <a:extLst>
                <a:ext uri="{FF2B5EF4-FFF2-40B4-BE49-F238E27FC236}">
                  <a16:creationId xmlns:a16="http://schemas.microsoft.com/office/drawing/2014/main" id="{698B949B-D3E0-4DE9-D548-676AA5FA796A}"/>
                </a:ext>
              </a:extLst>
            </p:cNvPr>
            <p:cNvSpPr txBox="1"/>
            <p:nvPr/>
          </p:nvSpPr>
          <p:spPr>
            <a:xfrm>
              <a:off x="304671" y="1514302"/>
              <a:ext cx="4837966" cy="338554"/>
            </a:xfrm>
            <a:prstGeom prst="rect">
              <a:avLst/>
            </a:prstGeom>
            <a:noFill/>
          </p:spPr>
          <p:txBody>
            <a:bodyPr wrap="square" rtlCol="0">
              <a:spAutoFit/>
            </a:bodyPr>
            <a:lstStyle/>
            <a:p>
              <a:r>
                <a:rPr lang="en-US" sz="1600" dirty="0"/>
                <a:t>Less than 25 miles away from Wilbur Wright College</a:t>
              </a:r>
            </a:p>
          </p:txBody>
        </p:sp>
        <p:sp>
          <p:nvSpPr>
            <p:cNvPr id="8" name="TextBox 7">
              <a:extLst>
                <a:ext uri="{FF2B5EF4-FFF2-40B4-BE49-F238E27FC236}">
                  <a16:creationId xmlns:a16="http://schemas.microsoft.com/office/drawing/2014/main" id="{1269BC25-E8B7-B5A4-548B-243813C9FE2F}"/>
                </a:ext>
              </a:extLst>
            </p:cNvPr>
            <p:cNvSpPr txBox="1"/>
            <p:nvPr/>
          </p:nvSpPr>
          <p:spPr>
            <a:xfrm>
              <a:off x="5433369" y="2301351"/>
              <a:ext cx="6098344" cy="369332"/>
            </a:xfrm>
            <a:prstGeom prst="rect">
              <a:avLst/>
            </a:prstGeom>
            <a:noFill/>
          </p:spPr>
          <p:txBody>
            <a:bodyPr wrap="square">
              <a:spAutoFit/>
            </a:bodyPr>
            <a:lstStyle/>
            <a:p>
              <a:r>
                <a:rPr lang="en-US" dirty="0"/>
                <a:t>Total budget for Fiscal Year 2024:  </a:t>
              </a:r>
              <a:r>
                <a:rPr lang="en-US" b="1" dirty="0"/>
                <a:t>$1.2 billion</a:t>
              </a:r>
              <a:r>
                <a:rPr lang="en-US" dirty="0"/>
                <a:t>.</a:t>
              </a:r>
            </a:p>
          </p:txBody>
        </p:sp>
        <p:sp>
          <p:nvSpPr>
            <p:cNvPr id="10" name="TextBox 9">
              <a:extLst>
                <a:ext uri="{FF2B5EF4-FFF2-40B4-BE49-F238E27FC236}">
                  <a16:creationId xmlns:a16="http://schemas.microsoft.com/office/drawing/2014/main" id="{C42BE2DF-BC67-CA37-5CED-29017E64B6AB}"/>
                </a:ext>
              </a:extLst>
            </p:cNvPr>
            <p:cNvSpPr txBox="1"/>
            <p:nvPr/>
          </p:nvSpPr>
          <p:spPr>
            <a:xfrm>
              <a:off x="5072298" y="2978234"/>
              <a:ext cx="6819868" cy="2031325"/>
            </a:xfrm>
            <a:prstGeom prst="rect">
              <a:avLst/>
            </a:prstGeom>
            <a:noFill/>
          </p:spPr>
          <p:txBody>
            <a:bodyPr wrap="square">
              <a:spAutoFit/>
            </a:bodyPr>
            <a:lstStyle/>
            <a:p>
              <a:pPr>
                <a:buNone/>
              </a:pPr>
              <a:r>
                <a:rPr lang="en-US" dirty="0"/>
                <a:t>Argonne fulfills its mission through five primary areas of impact </a:t>
              </a:r>
            </a:p>
            <a:p>
              <a:pPr>
                <a:buNone/>
              </a:pPr>
              <a:endParaRPr lang="en-US" dirty="0"/>
            </a:p>
            <a:p>
              <a:pPr marL="342900" indent="-342900">
                <a:buFont typeface="+mj-lt"/>
                <a:buAutoNum type="arabicParenR"/>
              </a:pPr>
              <a:r>
                <a:rPr lang="en-US" b="1" dirty="0"/>
                <a:t>Scientific Discoveries</a:t>
              </a:r>
              <a:endParaRPr lang="en-US" dirty="0"/>
            </a:p>
            <a:p>
              <a:pPr marL="342900" indent="-342900">
                <a:buFont typeface="+mj-lt"/>
                <a:buAutoNum type="arabicParenR"/>
              </a:pPr>
              <a:r>
                <a:rPr lang="en-US" b="1" dirty="0"/>
                <a:t>Energy and Climate Solutions</a:t>
              </a:r>
            </a:p>
            <a:p>
              <a:pPr marL="342900" indent="-342900">
                <a:buFont typeface="+mj-lt"/>
                <a:buAutoNum type="arabicParenR"/>
              </a:pPr>
              <a:r>
                <a:rPr lang="en-US" b="1" dirty="0"/>
                <a:t>Global Security</a:t>
              </a:r>
            </a:p>
            <a:p>
              <a:pPr marL="342900" indent="-342900">
                <a:buFont typeface="+mj-lt"/>
                <a:buAutoNum type="arabicParenR"/>
              </a:pPr>
              <a:r>
                <a:rPr lang="en-US" b="1" dirty="0"/>
                <a:t>Research Facilities</a:t>
              </a:r>
              <a:endParaRPr lang="en-US" dirty="0"/>
            </a:p>
            <a:p>
              <a:pPr marL="342900" indent="-342900">
                <a:buFont typeface="+mj-lt"/>
                <a:buAutoNum type="arabicParenR"/>
              </a:pPr>
              <a:r>
                <a:rPr lang="en-US" b="1" dirty="0"/>
                <a:t>STEM Workforce Development</a:t>
              </a:r>
              <a:endParaRPr lang="en-US" dirty="0"/>
            </a:p>
          </p:txBody>
        </p:sp>
        <p:sp>
          <p:nvSpPr>
            <p:cNvPr id="12" name="TextBox 11">
              <a:extLst>
                <a:ext uri="{FF2B5EF4-FFF2-40B4-BE49-F238E27FC236}">
                  <a16:creationId xmlns:a16="http://schemas.microsoft.com/office/drawing/2014/main" id="{5C2A7F04-A7BA-6C27-59AD-F2650F8D30E6}"/>
                </a:ext>
              </a:extLst>
            </p:cNvPr>
            <p:cNvSpPr txBox="1"/>
            <p:nvPr/>
          </p:nvSpPr>
          <p:spPr>
            <a:xfrm>
              <a:off x="5929809" y="5146234"/>
              <a:ext cx="6098344" cy="646331"/>
            </a:xfrm>
            <a:prstGeom prst="rect">
              <a:avLst/>
            </a:prstGeom>
            <a:noFill/>
          </p:spPr>
          <p:txBody>
            <a:bodyPr wrap="square">
              <a:spAutoFit/>
            </a:bodyPr>
            <a:lstStyle/>
            <a:p>
              <a:r>
                <a:rPr lang="en-US" dirty="0"/>
                <a:t>Undergraduate education is a core mission component</a:t>
              </a:r>
            </a:p>
            <a:p>
              <a:r>
                <a:rPr lang="en-US" dirty="0"/>
                <a:t>                           (DOE 2024 budget: $46.1 million)</a:t>
              </a:r>
            </a:p>
          </p:txBody>
        </p:sp>
        <p:sp>
          <p:nvSpPr>
            <p:cNvPr id="13" name="Bent Arrow 12">
              <a:extLst>
                <a:ext uri="{FF2B5EF4-FFF2-40B4-BE49-F238E27FC236}">
                  <a16:creationId xmlns:a16="http://schemas.microsoft.com/office/drawing/2014/main" id="{A97C80AB-302D-798B-F2E3-8B5CCB6D651A}"/>
                </a:ext>
              </a:extLst>
            </p:cNvPr>
            <p:cNvSpPr/>
            <p:nvPr/>
          </p:nvSpPr>
          <p:spPr>
            <a:xfrm rot="10800000" flipH="1">
              <a:off x="5657834" y="5009559"/>
              <a:ext cx="271975" cy="379828"/>
            </a:xfrm>
            <a:prstGeom prst="ben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Tree>
    <p:extLst>
      <p:ext uri="{BB962C8B-B14F-4D97-AF65-F5344CB8AC3E}">
        <p14:creationId xmlns:p14="http://schemas.microsoft.com/office/powerpoint/2010/main" val="40920769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4DC0F63-D598-576A-41D0-F733B99D5A4D}"/>
              </a:ext>
            </a:extLst>
          </p:cNvPr>
          <p:cNvSpPr txBox="1"/>
          <p:nvPr/>
        </p:nvSpPr>
        <p:spPr>
          <a:xfrm>
            <a:off x="965532" y="750460"/>
            <a:ext cx="10558689" cy="523220"/>
          </a:xfrm>
          <a:prstGeom prst="rect">
            <a:avLst/>
          </a:prstGeom>
          <a:noFill/>
        </p:spPr>
        <p:txBody>
          <a:bodyPr wrap="square">
            <a:spAutoFit/>
          </a:bodyPr>
          <a:lstStyle/>
          <a:p>
            <a:r>
              <a:rPr lang="en-US" sz="2800" dirty="0">
                <a:solidFill>
                  <a:srgbClr val="0070C0"/>
                </a:solidFill>
              </a:rPr>
              <a:t>Argonne Opportunities Available to Wilbur Wright College Students</a:t>
            </a:r>
          </a:p>
        </p:txBody>
      </p:sp>
      <p:sp>
        <p:nvSpPr>
          <p:cNvPr id="7" name="TextBox 6">
            <a:extLst>
              <a:ext uri="{FF2B5EF4-FFF2-40B4-BE49-F238E27FC236}">
                <a16:creationId xmlns:a16="http://schemas.microsoft.com/office/drawing/2014/main" id="{041BD8A1-7D04-8316-9D88-168B66B5F910}"/>
              </a:ext>
            </a:extLst>
          </p:cNvPr>
          <p:cNvSpPr txBox="1"/>
          <p:nvPr/>
        </p:nvSpPr>
        <p:spPr>
          <a:xfrm>
            <a:off x="201046" y="1614771"/>
            <a:ext cx="11789905" cy="3416320"/>
          </a:xfrm>
          <a:prstGeom prst="rect">
            <a:avLst/>
          </a:prstGeom>
          <a:noFill/>
        </p:spPr>
        <p:txBody>
          <a:bodyPr wrap="square">
            <a:spAutoFit/>
          </a:bodyPr>
          <a:lstStyle/>
          <a:p>
            <a:pPr marL="285750" indent="-285750">
              <a:buFont typeface="Wingdings" pitchFamily="2" charset="2"/>
              <a:buChar char="q"/>
            </a:pPr>
            <a:r>
              <a:rPr lang="en-US" b="1" dirty="0"/>
              <a:t>Science Undergraduate Laboratory Internship (SULI)</a:t>
            </a:r>
            <a:r>
              <a:rPr lang="en-US" dirty="0"/>
              <a:t> – $16 million budget in 2024. </a:t>
            </a:r>
          </a:p>
          <a:p>
            <a:r>
              <a:rPr lang="en-US" dirty="0"/>
              <a:t>      10‑ to 16‑week paid internships at Argonne for undergraduate students. </a:t>
            </a:r>
            <a:r>
              <a:rPr lang="en-US" b="1" dirty="0"/>
              <a:t>$650/week</a:t>
            </a:r>
            <a:r>
              <a:rPr lang="en-US" dirty="0"/>
              <a:t> stipend+</a:t>
            </a:r>
            <a:r>
              <a:rPr lang="en-US" dirty="0">
                <a:solidFill>
                  <a:srgbClr val="C00000"/>
                </a:solidFill>
              </a:rPr>
              <a:t> </a:t>
            </a:r>
            <a:r>
              <a:rPr lang="en-US" dirty="0"/>
              <a:t>Travel &amp; housing support. Part-time students are eligible. </a:t>
            </a:r>
            <a:r>
              <a:rPr lang="en-US" dirty="0">
                <a:hlinkClick r:id="rId2"/>
              </a:rPr>
              <a:t>https://science.osti.gov/wdts/suli</a:t>
            </a:r>
            <a:endParaRPr lang="en-US" dirty="0"/>
          </a:p>
          <a:p>
            <a:endParaRPr lang="en-US" dirty="0"/>
          </a:p>
          <a:p>
            <a:pPr marL="285750" indent="-285750">
              <a:buFont typeface="Wingdings" pitchFamily="2" charset="2"/>
              <a:buChar char="q"/>
            </a:pPr>
            <a:r>
              <a:rPr lang="en-US" b="1" dirty="0"/>
              <a:t>Community College Internship Program (CCI)</a:t>
            </a:r>
            <a:r>
              <a:rPr lang="en-US" dirty="0"/>
              <a:t> – $2.3 million budget in 2024. </a:t>
            </a:r>
          </a:p>
          <a:p>
            <a:r>
              <a:rPr lang="en-US" dirty="0"/>
              <a:t>      10‑week summer internships at Argonne designed </a:t>
            </a:r>
            <a:r>
              <a:rPr lang="en-US" b="1" dirty="0">
                <a:solidFill>
                  <a:srgbClr val="C00000"/>
                </a:solidFill>
              </a:rPr>
              <a:t>specifically for community‑college students. </a:t>
            </a:r>
            <a:r>
              <a:rPr lang="en-US" b="1" dirty="0"/>
              <a:t>$650/week</a:t>
            </a:r>
            <a:r>
              <a:rPr lang="en-US" dirty="0"/>
              <a:t> stipend+</a:t>
            </a:r>
            <a:r>
              <a:rPr lang="en-US" dirty="0">
                <a:solidFill>
                  <a:srgbClr val="C00000"/>
                </a:solidFill>
              </a:rPr>
              <a:t> </a:t>
            </a:r>
            <a:r>
              <a:rPr lang="en-US" dirty="0"/>
              <a:t>Travel &amp; housing support. Part-time students are eligible. </a:t>
            </a:r>
            <a:r>
              <a:rPr lang="en-US" dirty="0">
                <a:hlinkClick r:id="rId3"/>
              </a:rPr>
              <a:t>https://science.osti.gov/wdts/cci</a:t>
            </a:r>
            <a:endParaRPr lang="en-US" dirty="0"/>
          </a:p>
          <a:p>
            <a:endParaRPr lang="en-US" b="1" dirty="0">
              <a:solidFill>
                <a:srgbClr val="C00000"/>
              </a:solidFill>
            </a:endParaRPr>
          </a:p>
          <a:p>
            <a:pPr marL="285750" indent="-285750">
              <a:buFont typeface="Wingdings" pitchFamily="2" charset="2"/>
              <a:buChar char="q"/>
            </a:pPr>
            <a:r>
              <a:rPr lang="en-US" b="1" dirty="0"/>
              <a:t>Visiting Faculty Program (VFP)</a:t>
            </a:r>
            <a:r>
              <a:rPr lang="en-US" dirty="0"/>
              <a:t> – $2.1 million budget in 2024. </a:t>
            </a:r>
          </a:p>
          <a:p>
            <a:r>
              <a:rPr lang="en-US" dirty="0"/>
              <a:t>      10‑week summer appointment for faculty from </a:t>
            </a:r>
            <a:r>
              <a:rPr lang="en-US" b="1" dirty="0">
                <a:solidFill>
                  <a:srgbClr val="C00000"/>
                </a:solidFill>
              </a:rPr>
              <a:t>colleges that emphasize teaching </a:t>
            </a:r>
            <a:r>
              <a:rPr lang="en-US" dirty="0"/>
              <a:t>with at least two undergraduate students. </a:t>
            </a:r>
            <a:r>
              <a:rPr lang="en-US" b="1" dirty="0"/>
              <a:t>$650/week</a:t>
            </a:r>
            <a:r>
              <a:rPr lang="en-US" dirty="0"/>
              <a:t> stipend+</a:t>
            </a:r>
            <a:r>
              <a:rPr lang="en-US" dirty="0">
                <a:solidFill>
                  <a:srgbClr val="C00000"/>
                </a:solidFill>
              </a:rPr>
              <a:t> </a:t>
            </a:r>
            <a:r>
              <a:rPr lang="en-US" dirty="0"/>
              <a:t>Travel &amp; housing support. Only for full-time </a:t>
            </a:r>
            <a:r>
              <a:rPr lang="en-US" dirty="0" err="1"/>
              <a:t>students.</a:t>
            </a:r>
            <a:r>
              <a:rPr lang="en-US" dirty="0" err="1">
                <a:hlinkClick r:id="rId4"/>
              </a:rPr>
              <a:t>https</a:t>
            </a:r>
            <a:r>
              <a:rPr lang="en-US" dirty="0">
                <a:hlinkClick r:id="rId4"/>
              </a:rPr>
              <a:t>://science.osti.gov/wdts/vfp</a:t>
            </a:r>
            <a:endParaRPr lang="en-US" dirty="0"/>
          </a:p>
          <a:p>
            <a:r>
              <a:rPr lang="en-US" b="1" dirty="0">
                <a:solidFill>
                  <a:srgbClr val="C00000"/>
                </a:solidFill>
              </a:rPr>
              <a:t> </a:t>
            </a:r>
          </a:p>
        </p:txBody>
      </p:sp>
      <p:sp>
        <p:nvSpPr>
          <p:cNvPr id="18" name="TextBox 17">
            <a:extLst>
              <a:ext uri="{FF2B5EF4-FFF2-40B4-BE49-F238E27FC236}">
                <a16:creationId xmlns:a16="http://schemas.microsoft.com/office/drawing/2014/main" id="{39FF9C01-E404-3B54-C845-AE37EA67D260}"/>
              </a:ext>
            </a:extLst>
          </p:cNvPr>
          <p:cNvSpPr txBox="1"/>
          <p:nvPr/>
        </p:nvSpPr>
        <p:spPr>
          <a:xfrm>
            <a:off x="104337" y="5563454"/>
            <a:ext cx="12087663" cy="830997"/>
          </a:xfrm>
          <a:prstGeom prst="rect">
            <a:avLst/>
          </a:prstGeom>
          <a:noFill/>
        </p:spPr>
        <p:txBody>
          <a:bodyPr wrap="square">
            <a:spAutoFit/>
          </a:bodyPr>
          <a:lstStyle/>
          <a:p>
            <a:r>
              <a:rPr lang="en-US" sz="1600" dirty="0"/>
              <a:t>Reference: DOE Office of Science, </a:t>
            </a:r>
            <a:r>
              <a:rPr lang="en-US" sz="1600" i="1" dirty="0"/>
              <a:t>"FY 2025 Congressional Budget Justification: Workforce Development for Teachers and Scientists. </a:t>
            </a:r>
            <a:r>
              <a:rPr lang="en-US" sz="1600" i="1" dirty="0">
                <a:hlinkClick r:id="rId5"/>
              </a:rPr>
              <a:t>https://science.osti.gov/-/media/budget/pdf/sc-budget-request-to-congress/2025/Workforce-Development-for-Teachers-and-Scientists-3_15_24---Final.pdf</a:t>
            </a:r>
            <a:endParaRPr lang="en-US" sz="1600" dirty="0"/>
          </a:p>
        </p:txBody>
      </p:sp>
    </p:spTree>
    <p:extLst>
      <p:ext uri="{BB962C8B-B14F-4D97-AF65-F5344CB8AC3E}">
        <p14:creationId xmlns:p14="http://schemas.microsoft.com/office/powerpoint/2010/main" val="4162514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C7E0A2C-7C0A-4AAC-B3B0-6C12B2EBAE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EB7D2A2-F448-44D4-938C-DC84CBCB3B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518714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871AEA07-1E14-44B4-8E55-64EF049CD6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6464" y="551961"/>
            <a:ext cx="10999072" cy="5399950"/>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868EBD77-4CCD-9FF6-66A3-499599C977BC}"/>
              </a:ext>
            </a:extLst>
          </p:cNvPr>
          <p:cNvSpPr txBox="1"/>
          <p:nvPr/>
        </p:nvSpPr>
        <p:spPr>
          <a:xfrm>
            <a:off x="1524000" y="1248587"/>
            <a:ext cx="9144000" cy="2387600"/>
          </a:xfrm>
          <a:prstGeom prst="rect">
            <a:avLst/>
          </a:prstGeom>
        </p:spPr>
        <p:txBody>
          <a:bodyPr vert="horz" lIns="91440" tIns="45720" rIns="91440" bIns="45720" rtlCol="0" anchor="b">
            <a:normAutofit/>
          </a:bodyPr>
          <a:lstStyle/>
          <a:p>
            <a:pPr algn="ctr">
              <a:lnSpc>
                <a:spcPct val="90000"/>
              </a:lnSpc>
              <a:spcBef>
                <a:spcPct val="0"/>
              </a:spcBef>
              <a:spcAft>
                <a:spcPts val="600"/>
              </a:spcAft>
            </a:pPr>
            <a:r>
              <a:rPr lang="en-US" sz="6400" kern="1200">
                <a:solidFill>
                  <a:schemeClr val="tx1"/>
                </a:solidFill>
                <a:latin typeface="+mj-lt"/>
                <a:ea typeface="+mj-ea"/>
                <a:cs typeface="+mj-cs"/>
              </a:rPr>
              <a:t>Beyond these programs, the real opportunity is…</a:t>
            </a:r>
          </a:p>
        </p:txBody>
      </p:sp>
      <p:cxnSp>
        <p:nvCxnSpPr>
          <p:cNvPr id="14" name="Straight Connector 13">
            <a:extLst>
              <a:ext uri="{FF2B5EF4-FFF2-40B4-BE49-F238E27FC236}">
                <a16:creationId xmlns:a16="http://schemas.microsoft.com/office/drawing/2014/main" id="{F7C8EA93-3210-4C62-99E9-153C275E3A8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96464" y="6329769"/>
            <a:ext cx="11000232" cy="0"/>
          </a:xfrm>
          <a:prstGeom prst="line">
            <a:avLst/>
          </a:prstGeom>
          <a:ln w="15240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350461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2CEC61-23E0-17F1-E61E-AEE68557437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DFB3CB4-7C08-5F82-24CA-AA92BDBC52D3}"/>
              </a:ext>
            </a:extLst>
          </p:cNvPr>
          <p:cNvSpPr txBox="1"/>
          <p:nvPr/>
        </p:nvSpPr>
        <p:spPr>
          <a:xfrm>
            <a:off x="1951893" y="273351"/>
            <a:ext cx="8288213" cy="830997"/>
          </a:xfrm>
          <a:prstGeom prst="rect">
            <a:avLst/>
          </a:prstGeom>
          <a:noFill/>
        </p:spPr>
        <p:txBody>
          <a:bodyPr wrap="square">
            <a:spAutoFit/>
          </a:bodyPr>
          <a:lstStyle/>
          <a:p>
            <a:pPr algn="ctr"/>
            <a:r>
              <a:rPr lang="en-US" sz="2400" dirty="0">
                <a:solidFill>
                  <a:srgbClr val="0070C0"/>
                </a:solidFill>
              </a:rPr>
              <a:t>Building a long-term institutional partnership between </a:t>
            </a:r>
          </a:p>
          <a:p>
            <a:pPr algn="ctr"/>
            <a:r>
              <a:rPr lang="en-US" sz="2400" dirty="0">
                <a:solidFill>
                  <a:srgbClr val="0070C0"/>
                </a:solidFill>
              </a:rPr>
              <a:t>Argonne National Laboratory and Wilbur Wright College</a:t>
            </a:r>
          </a:p>
        </p:txBody>
      </p:sp>
      <p:sp>
        <p:nvSpPr>
          <p:cNvPr id="4" name="TextBox 3">
            <a:extLst>
              <a:ext uri="{FF2B5EF4-FFF2-40B4-BE49-F238E27FC236}">
                <a16:creationId xmlns:a16="http://schemas.microsoft.com/office/drawing/2014/main" id="{696D8C7E-3B0B-88B1-71EC-EEDFB534261D}"/>
              </a:ext>
            </a:extLst>
          </p:cNvPr>
          <p:cNvSpPr txBox="1"/>
          <p:nvPr/>
        </p:nvSpPr>
        <p:spPr>
          <a:xfrm>
            <a:off x="445476" y="1977291"/>
            <a:ext cx="11301046" cy="4031873"/>
          </a:xfrm>
          <a:prstGeom prst="rect">
            <a:avLst/>
          </a:prstGeom>
          <a:noFill/>
        </p:spPr>
        <p:txBody>
          <a:bodyPr wrap="square">
            <a:spAutoFit/>
          </a:bodyPr>
          <a:lstStyle/>
          <a:p>
            <a:r>
              <a:rPr lang="en-US" sz="1600" b="0" i="0" dirty="0">
                <a:solidFill>
                  <a:srgbClr val="C00000"/>
                </a:solidFill>
                <a:effectLst/>
                <a:latin typeface="-apple-system"/>
              </a:rPr>
              <a:t>Some examples of official DOE lab </a:t>
            </a:r>
            <a:r>
              <a:rPr lang="en-US" sz="1600" b="1" i="0" dirty="0">
                <a:solidFill>
                  <a:srgbClr val="C00000"/>
                </a:solidFill>
                <a:effectLst/>
                <a:latin typeface="-apple-system"/>
              </a:rPr>
              <a:t>community-college agreements</a:t>
            </a:r>
          </a:p>
          <a:p>
            <a:endParaRPr lang="en-US" sz="1200" b="1" i="0" dirty="0">
              <a:solidFill>
                <a:srgbClr val="C00000"/>
              </a:solidFill>
              <a:effectLst/>
              <a:latin typeface="-apple-system"/>
            </a:endParaRPr>
          </a:p>
          <a:p>
            <a:pPr marL="285750" indent="-285750">
              <a:buFont typeface="Wingdings" pitchFamily="2" charset="2"/>
              <a:buChar char="q"/>
            </a:pPr>
            <a:r>
              <a:rPr lang="en-US" sz="1200" b="1" dirty="0"/>
              <a:t>Argonne National Laboratory &amp; City Colleges of Chicago –</a:t>
            </a:r>
            <a:r>
              <a:rPr lang="en-US" sz="1200" dirty="0"/>
              <a:t> Partners in the </a:t>
            </a:r>
            <a:r>
              <a:rPr lang="en-US" sz="1200" i="1" dirty="0"/>
              <a:t>Community Research on Climate and Urban Science (CROCUS)</a:t>
            </a:r>
            <a:r>
              <a:rPr lang="en-US" sz="1200" dirty="0"/>
              <a:t> project. Funded by the DOE’s Office of Science, this Urban Integrated Field Laboratory brings together Argonne, City Colleges of Chicago and other universities to study urban climate impacts. It engages students from community colleges and minority‑serving institutions in field data collection and model development, offering hands‑on research experiences and workforce‑relevant training\</a:t>
            </a:r>
          </a:p>
          <a:p>
            <a:r>
              <a:rPr lang="en-US" sz="1200" dirty="0">
                <a:solidFill>
                  <a:srgbClr val="C00000"/>
                </a:solidFill>
                <a:hlinkClick r:id="rId2"/>
              </a:rPr>
              <a:t>https://colleges.ccc.edu/2022/09/06/city-colleges-of-chicago-partners-with-argonne-in-research-and-education/</a:t>
            </a:r>
            <a:endParaRPr lang="en-US" sz="1200" dirty="0">
              <a:solidFill>
                <a:srgbClr val="C00000"/>
              </a:solidFill>
            </a:endParaRPr>
          </a:p>
          <a:p>
            <a:endParaRPr lang="en-US" sz="1200" b="0" i="0" dirty="0">
              <a:solidFill>
                <a:srgbClr val="0D0D0D"/>
              </a:solidFill>
              <a:effectLst/>
              <a:latin typeface="-apple-system"/>
            </a:endParaRPr>
          </a:p>
          <a:p>
            <a:pPr marL="285750" indent="-285750">
              <a:buFont typeface="Wingdings" pitchFamily="2" charset="2"/>
              <a:buChar char="q"/>
            </a:pPr>
            <a:r>
              <a:rPr lang="en-US" sz="1200" b="0" i="0" dirty="0">
                <a:solidFill>
                  <a:srgbClr val="0D0D0D"/>
                </a:solidFill>
                <a:effectLst/>
                <a:latin typeface="-apple-system"/>
              </a:rPr>
              <a:t>Oak Ridge National Laboratory </a:t>
            </a:r>
            <a:r>
              <a:rPr lang="en-US" sz="1200" dirty="0">
                <a:solidFill>
                  <a:srgbClr val="0D0D0D"/>
                </a:solidFill>
                <a:latin typeface="-apple-system"/>
              </a:rPr>
              <a:t>(</a:t>
            </a:r>
            <a:r>
              <a:rPr lang="en-US" sz="1200" b="0" i="0" dirty="0">
                <a:solidFill>
                  <a:srgbClr val="0D0D0D"/>
                </a:solidFill>
                <a:effectLst/>
                <a:latin typeface="-apple-system"/>
              </a:rPr>
              <a:t>ORNL) and Pellissippi State Community College signed a </a:t>
            </a:r>
            <a:r>
              <a:rPr lang="en-US" sz="1200" dirty="0"/>
              <a:t>Memorandum of Understanding</a:t>
            </a:r>
            <a:r>
              <a:rPr lang="en-US" sz="1200" b="0" i="0" dirty="0">
                <a:solidFill>
                  <a:srgbClr val="0D0D0D"/>
                </a:solidFill>
                <a:effectLst/>
                <a:latin typeface="-apple-system"/>
              </a:rPr>
              <a:t> ORNL scientists taught two of the new classes, students visited the lab, and the path was designed to lead to internships and jobs. </a:t>
            </a:r>
          </a:p>
          <a:p>
            <a:r>
              <a:rPr lang="en-US" sz="1200" b="0" i="0" dirty="0">
                <a:solidFill>
                  <a:srgbClr val="0D0D0D"/>
                </a:solidFill>
                <a:effectLst/>
                <a:latin typeface="-apple-system"/>
                <a:hlinkClick r:id="rId3"/>
              </a:rPr>
              <a:t>https://www.ornl.gov/news/partnership-offers-direct-career-path-pellissippi-state-ornl</a:t>
            </a:r>
            <a:endParaRPr lang="en-US" sz="1200" b="0" i="0" dirty="0">
              <a:solidFill>
                <a:srgbClr val="0D0D0D"/>
              </a:solidFill>
              <a:effectLst/>
              <a:latin typeface="-apple-system"/>
            </a:endParaRPr>
          </a:p>
          <a:p>
            <a:endParaRPr lang="en-US" sz="1200" dirty="0">
              <a:solidFill>
                <a:srgbClr val="0D0D0D"/>
              </a:solidFill>
              <a:latin typeface="-apple-system"/>
            </a:endParaRPr>
          </a:p>
          <a:p>
            <a:pPr marL="285750" indent="-285750">
              <a:buFont typeface="Wingdings" pitchFamily="2" charset="2"/>
              <a:buChar char="q"/>
            </a:pPr>
            <a:r>
              <a:rPr lang="en-US" sz="1200" dirty="0"/>
              <a:t>Savannah River National Laboratory and Augusta Technical College signed an MOU for workforce development, practical learning opportunities, career pathways, and apprenticeship/internship programs. </a:t>
            </a:r>
          </a:p>
          <a:p>
            <a:r>
              <a:rPr lang="en-US" sz="1200" dirty="0">
                <a:hlinkClick r:id="rId4"/>
              </a:rPr>
              <a:t>https://www.srnl.gov/news-releases/srnl-augusta-tech/</a:t>
            </a:r>
            <a:endParaRPr lang="en-US" sz="1200" dirty="0"/>
          </a:p>
          <a:p>
            <a:endParaRPr lang="en-US" sz="1200" dirty="0"/>
          </a:p>
          <a:p>
            <a:pPr marL="285750" indent="-285750">
              <a:buFont typeface="Wingdings" pitchFamily="2" charset="2"/>
              <a:buChar char="q"/>
            </a:pPr>
            <a:r>
              <a:rPr lang="en-US" sz="1200" dirty="0"/>
              <a:t>Sandia National Laboratories and Mesalands Community College signed an MOU to enhance technician training and jointly research wind-energy technologies.</a:t>
            </a:r>
          </a:p>
          <a:p>
            <a:r>
              <a:rPr lang="en-US" sz="1200" dirty="0">
                <a:hlinkClick r:id="rId5"/>
              </a:rPr>
              <a:t>https://newsreleases.sandia.gov/sandia-mesalands-community-college-sign-agreement-to-jointly-research-new-wind-energy-technologies/</a:t>
            </a:r>
            <a:endParaRPr lang="en-US" sz="1200" dirty="0"/>
          </a:p>
          <a:p>
            <a:r>
              <a:rPr lang="en-US" sz="1200" dirty="0"/>
              <a:t>.</a:t>
            </a:r>
          </a:p>
          <a:p>
            <a:r>
              <a:rPr lang="en-US" sz="1200" dirty="0"/>
              <a:t>.</a:t>
            </a:r>
          </a:p>
          <a:p>
            <a:r>
              <a:rPr lang="en-US" sz="1200" dirty="0"/>
              <a:t>.</a:t>
            </a:r>
          </a:p>
        </p:txBody>
      </p:sp>
      <p:sp>
        <p:nvSpPr>
          <p:cNvPr id="8" name="TextBox 7">
            <a:extLst>
              <a:ext uri="{FF2B5EF4-FFF2-40B4-BE49-F238E27FC236}">
                <a16:creationId xmlns:a16="http://schemas.microsoft.com/office/drawing/2014/main" id="{D022DC40-6CFF-5181-C798-8C3AEA63BB0E}"/>
              </a:ext>
            </a:extLst>
          </p:cNvPr>
          <p:cNvSpPr txBox="1"/>
          <p:nvPr/>
        </p:nvSpPr>
        <p:spPr>
          <a:xfrm>
            <a:off x="445477" y="1248432"/>
            <a:ext cx="11652739" cy="584775"/>
          </a:xfrm>
          <a:prstGeom prst="rect">
            <a:avLst/>
          </a:prstGeom>
          <a:noFill/>
        </p:spPr>
        <p:txBody>
          <a:bodyPr wrap="square">
            <a:spAutoFit/>
          </a:bodyPr>
          <a:lstStyle/>
          <a:p>
            <a:pPr marL="285750" indent="-285750">
              <a:buFont typeface="Wingdings" pitchFamily="2" charset="2"/>
              <a:buChar char="v"/>
            </a:pPr>
            <a:r>
              <a:rPr lang="en-US" sz="1600" dirty="0"/>
              <a:t>A partnership between a community college and a national laboratory is not only possible but already supported through established agreements and programs. </a:t>
            </a:r>
          </a:p>
        </p:txBody>
      </p:sp>
      <p:sp>
        <p:nvSpPr>
          <p:cNvPr id="5" name="TextBox 4">
            <a:extLst>
              <a:ext uri="{FF2B5EF4-FFF2-40B4-BE49-F238E27FC236}">
                <a16:creationId xmlns:a16="http://schemas.microsoft.com/office/drawing/2014/main" id="{2F2F58F3-A3BC-92D3-8CE1-AEB2C46BFF61}"/>
              </a:ext>
            </a:extLst>
          </p:cNvPr>
          <p:cNvSpPr txBox="1"/>
          <p:nvPr/>
        </p:nvSpPr>
        <p:spPr>
          <a:xfrm>
            <a:off x="1104899" y="6091693"/>
            <a:ext cx="9982199" cy="369332"/>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sz="1800" dirty="0"/>
              <a:t>As a Hispanic-Serving Institution, Wilbur Wright College is a </a:t>
            </a:r>
            <a:r>
              <a:rPr lang="en-US" sz="1800" b="1" dirty="0"/>
              <a:t>primary candidate </a:t>
            </a:r>
            <a:r>
              <a:rPr lang="en-US" sz="1800" dirty="0"/>
              <a:t>for such programs. </a:t>
            </a:r>
          </a:p>
        </p:txBody>
      </p:sp>
    </p:spTree>
    <p:extLst>
      <p:ext uri="{BB962C8B-B14F-4D97-AF65-F5344CB8AC3E}">
        <p14:creationId xmlns:p14="http://schemas.microsoft.com/office/powerpoint/2010/main" val="33946892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AC9CB35F-2A7C-BDED-61AA-81E33D8D0979}"/>
              </a:ext>
            </a:extLst>
          </p:cNvPr>
          <p:cNvSpPr txBox="1"/>
          <p:nvPr/>
        </p:nvSpPr>
        <p:spPr>
          <a:xfrm>
            <a:off x="808638" y="386930"/>
            <a:ext cx="9236700" cy="1188950"/>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3000" kern="1200">
                <a:solidFill>
                  <a:schemeClr val="tx1"/>
                </a:solidFill>
                <a:latin typeface="+mj-lt"/>
                <a:ea typeface="+mj-ea"/>
                <a:cs typeface="+mj-cs"/>
              </a:rPr>
              <a:t>Roadmap to Building a Sustainable Partnership between </a:t>
            </a:r>
          </a:p>
          <a:p>
            <a:pPr>
              <a:lnSpc>
                <a:spcPct val="90000"/>
              </a:lnSpc>
              <a:spcBef>
                <a:spcPct val="0"/>
              </a:spcBef>
              <a:spcAft>
                <a:spcPts val="600"/>
              </a:spcAft>
            </a:pPr>
            <a:r>
              <a:rPr lang="en-US" sz="3000" kern="1200">
                <a:solidFill>
                  <a:schemeClr val="tx1"/>
                </a:solidFill>
                <a:latin typeface="+mj-lt"/>
                <a:ea typeface="+mj-ea"/>
                <a:cs typeface="+mj-cs"/>
              </a:rPr>
              <a:t>Wilbur Wright College and Argonne National Lab.</a:t>
            </a:r>
          </a:p>
        </p:txBody>
      </p:sp>
      <p:grpSp>
        <p:nvGrpSpPr>
          <p:cNvPr id="26" name="Group 25">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27" name="Rectangle 26">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712C00A1-EE94-031F-DB13-A6EEB6246495}"/>
              </a:ext>
            </a:extLst>
          </p:cNvPr>
          <p:cNvSpPr txBox="1"/>
          <p:nvPr/>
        </p:nvSpPr>
        <p:spPr>
          <a:xfrm>
            <a:off x="793660" y="2599509"/>
            <a:ext cx="10143668" cy="3435531"/>
          </a:xfrm>
          <a:prstGeom prst="rect">
            <a:avLst/>
          </a:prstGeom>
        </p:spPr>
        <p:txBody>
          <a:bodyPr vert="horz" lIns="91440" tIns="45720" rIns="91440" bIns="45720" rtlCol="0" anchor="ctr">
            <a:normAutofit/>
          </a:bodyPr>
          <a:lstStyle/>
          <a:p>
            <a:pPr marL="114300">
              <a:lnSpc>
                <a:spcPct val="90000"/>
              </a:lnSpc>
              <a:spcAft>
                <a:spcPts val="600"/>
              </a:spcAft>
            </a:pPr>
            <a:r>
              <a:rPr lang="en-US" sz="2400" b="1" dirty="0"/>
              <a:t>1. Exposure and Engagement</a:t>
            </a:r>
          </a:p>
          <a:p>
            <a:pPr marL="114300">
              <a:lnSpc>
                <a:spcPct val="90000"/>
              </a:lnSpc>
              <a:spcAft>
                <a:spcPts val="600"/>
              </a:spcAft>
            </a:pPr>
            <a:r>
              <a:rPr lang="en-US" sz="2400" b="1" dirty="0"/>
              <a:t>2. Preparation and Support</a:t>
            </a:r>
          </a:p>
          <a:p>
            <a:pPr marL="114300">
              <a:lnSpc>
                <a:spcPct val="90000"/>
              </a:lnSpc>
              <a:spcAft>
                <a:spcPts val="600"/>
              </a:spcAft>
            </a:pPr>
            <a:r>
              <a:rPr lang="en-US" sz="2400" b="1" dirty="0"/>
              <a:t>3. Bringing Student Challenges to Argonne’s Attention</a:t>
            </a:r>
          </a:p>
          <a:p>
            <a:pPr marL="114300">
              <a:lnSpc>
                <a:spcPct val="90000"/>
              </a:lnSpc>
              <a:spcAft>
                <a:spcPts val="600"/>
              </a:spcAft>
            </a:pPr>
            <a:r>
              <a:rPr lang="en-US" sz="2400" b="1" dirty="0"/>
              <a:t>4. Establishing Institutional Partnerships</a:t>
            </a:r>
          </a:p>
        </p:txBody>
      </p:sp>
    </p:spTree>
    <p:extLst>
      <p:ext uri="{BB962C8B-B14F-4D97-AF65-F5344CB8AC3E}">
        <p14:creationId xmlns:p14="http://schemas.microsoft.com/office/powerpoint/2010/main" val="36504291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442A6D65-76A0-0F57-6CCA-301EC306AF39}"/>
              </a:ext>
            </a:extLst>
          </p:cNvPr>
          <p:cNvSpPr txBox="1"/>
          <p:nvPr/>
        </p:nvSpPr>
        <p:spPr>
          <a:xfrm>
            <a:off x="437564" y="463625"/>
            <a:ext cx="10807505" cy="5416868"/>
          </a:xfrm>
          <a:prstGeom prst="rect">
            <a:avLst/>
          </a:prstGeom>
          <a:noFill/>
        </p:spPr>
        <p:txBody>
          <a:bodyPr wrap="square">
            <a:spAutoFit/>
          </a:bodyPr>
          <a:lstStyle/>
          <a:p>
            <a:pPr marL="342900" indent="-342900">
              <a:buAutoNum type="arabicPeriod"/>
            </a:pPr>
            <a:r>
              <a:rPr lang="en-US" sz="2000" b="1" dirty="0">
                <a:solidFill>
                  <a:srgbClr val="0070C0"/>
                </a:solidFill>
              </a:rPr>
              <a:t>Exposure and Engagement </a:t>
            </a:r>
          </a:p>
          <a:p>
            <a:r>
              <a:rPr lang="en-US" b="1" dirty="0"/>
              <a:t>Goal: </a:t>
            </a:r>
            <a:r>
              <a:rPr lang="en-US" dirty="0"/>
              <a:t>Help students see themselves in STEM careers (build scientific identity)—showing students what careers exist, how their classroom learning is used in real research, and what a future in science actually looks like.</a:t>
            </a:r>
            <a:endParaRPr lang="en-US" b="1" dirty="0"/>
          </a:p>
          <a:p>
            <a:endParaRPr lang="en-US" b="1" dirty="0"/>
          </a:p>
          <a:p>
            <a:r>
              <a:rPr lang="en-US" b="1" dirty="0"/>
              <a:t>Steps:</a:t>
            </a:r>
          </a:p>
          <a:p>
            <a:pPr>
              <a:buFont typeface="Arial" panose="020B0604020202020204" pitchFamily="34" charset="0"/>
              <a:buChar char="•"/>
            </a:pPr>
            <a:r>
              <a:rPr lang="en-US" dirty="0"/>
              <a:t>Organize field trips to Argonne National Laboratory </a:t>
            </a:r>
          </a:p>
          <a:p>
            <a:pPr>
              <a:buFont typeface="Arial" panose="020B0604020202020204" pitchFamily="34" charset="0"/>
              <a:buChar char="•"/>
            </a:pPr>
            <a:r>
              <a:rPr lang="en-US" dirty="0"/>
              <a:t>Invite Argonne scientists for guest lectures and career talks </a:t>
            </a:r>
          </a:p>
          <a:p>
            <a:pPr>
              <a:buFont typeface="Arial" panose="020B0604020202020204" pitchFamily="34" charset="0"/>
              <a:buChar char="•"/>
            </a:pPr>
            <a:r>
              <a:rPr lang="en-US" dirty="0"/>
              <a:t>Create student–scientist interaction  through lab visits</a:t>
            </a:r>
          </a:p>
          <a:p>
            <a:pPr>
              <a:buFont typeface="Arial" panose="020B0604020202020204" pitchFamily="34" charset="0"/>
              <a:buChar char="•"/>
            </a:pPr>
            <a:endParaRPr lang="en-US" dirty="0"/>
          </a:p>
          <a:p>
            <a:pPr>
              <a:buFont typeface="Arial" panose="020B0604020202020204" pitchFamily="34" charset="0"/>
              <a:buChar char="•"/>
            </a:pPr>
            <a:endParaRPr lang="en-US" dirty="0"/>
          </a:p>
          <a:p>
            <a:pPr>
              <a:buNone/>
            </a:pPr>
            <a:r>
              <a:rPr lang="en-US" b="1" dirty="0">
                <a:solidFill>
                  <a:srgbClr val="0070C0"/>
                </a:solidFill>
              </a:rPr>
              <a:t>2</a:t>
            </a:r>
            <a:r>
              <a:rPr lang="en-US" sz="2000" b="1" dirty="0">
                <a:solidFill>
                  <a:srgbClr val="0070C0"/>
                </a:solidFill>
              </a:rPr>
              <a:t>. Preparation and Support</a:t>
            </a:r>
            <a:endParaRPr lang="en-US" b="1" dirty="0"/>
          </a:p>
          <a:p>
            <a:pPr>
              <a:buNone/>
            </a:pPr>
            <a:r>
              <a:rPr lang="en-US" b="1" dirty="0"/>
              <a:t>Goal: </a:t>
            </a:r>
            <a:r>
              <a:rPr lang="en-US" dirty="0"/>
              <a:t>Build a pipeline—helping students apply for and succeed in internships and other paid opportunities at Argonne</a:t>
            </a:r>
          </a:p>
          <a:p>
            <a:pPr>
              <a:buNone/>
            </a:pPr>
            <a:endParaRPr lang="en-US" b="1" dirty="0"/>
          </a:p>
          <a:p>
            <a:r>
              <a:rPr lang="en-US" b="1" dirty="0"/>
              <a:t>Steps:</a:t>
            </a:r>
          </a:p>
          <a:p>
            <a:pPr>
              <a:buFont typeface="Arial" panose="020B0604020202020204" pitchFamily="34" charset="0"/>
              <a:buChar char="•"/>
            </a:pPr>
            <a:r>
              <a:rPr lang="en-US" dirty="0"/>
              <a:t>Guide students through CCI / SULI / VFP application process </a:t>
            </a:r>
          </a:p>
          <a:p>
            <a:pPr>
              <a:buFont typeface="Arial" panose="020B0604020202020204" pitchFamily="34" charset="0"/>
              <a:buChar char="•"/>
            </a:pPr>
            <a:r>
              <a:rPr lang="en-US" dirty="0"/>
              <a:t>Offer workshops on resumes, statements, and interviews </a:t>
            </a:r>
          </a:p>
          <a:p>
            <a:pPr>
              <a:buFont typeface="Arial" panose="020B0604020202020204" pitchFamily="34" charset="0"/>
              <a:buChar char="•"/>
            </a:pPr>
            <a:r>
              <a:rPr lang="en-US" dirty="0"/>
              <a:t>Mentor students in basic  skills for possible projects </a:t>
            </a:r>
          </a:p>
        </p:txBody>
      </p:sp>
    </p:spTree>
    <p:extLst>
      <p:ext uri="{BB962C8B-B14F-4D97-AF65-F5344CB8AC3E}">
        <p14:creationId xmlns:p14="http://schemas.microsoft.com/office/powerpoint/2010/main" val="8658491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CD54262-CFFD-E871-9FD3-16457F9CCBC9}"/>
              </a:ext>
            </a:extLst>
          </p:cNvPr>
          <p:cNvSpPr txBox="1"/>
          <p:nvPr/>
        </p:nvSpPr>
        <p:spPr>
          <a:xfrm>
            <a:off x="418512" y="397355"/>
            <a:ext cx="11773488" cy="4585871"/>
          </a:xfrm>
          <a:prstGeom prst="rect">
            <a:avLst/>
          </a:prstGeom>
          <a:noFill/>
        </p:spPr>
        <p:txBody>
          <a:bodyPr wrap="square">
            <a:spAutoFit/>
          </a:bodyPr>
          <a:lstStyle/>
          <a:p>
            <a:r>
              <a:rPr lang="en-US" b="1" dirty="0">
                <a:solidFill>
                  <a:srgbClr val="0070C0"/>
                </a:solidFill>
              </a:rPr>
              <a:t>3</a:t>
            </a:r>
            <a:r>
              <a:rPr lang="en-US" sz="2000" b="1" dirty="0">
                <a:solidFill>
                  <a:srgbClr val="0070C0"/>
                </a:solidFill>
              </a:rPr>
              <a:t>. Bringing Student Challenges to Argonne’s Attention</a:t>
            </a:r>
            <a:endParaRPr lang="en-US" sz="2000" b="1" dirty="0"/>
          </a:p>
          <a:p>
            <a:r>
              <a:rPr lang="en-US" b="1" dirty="0"/>
              <a:t>Goal: </a:t>
            </a:r>
            <a:r>
              <a:rPr lang="en-US" dirty="0"/>
              <a:t>Raising awareness at Argonne National Lab. about the real challenges students face, including financial pressure and unequal access to opportunities.</a:t>
            </a:r>
          </a:p>
          <a:p>
            <a:endParaRPr lang="en-US" dirty="0"/>
          </a:p>
          <a:p>
            <a:r>
              <a:rPr lang="en-US" b="1" dirty="0"/>
              <a:t>Steps:</a:t>
            </a:r>
          </a:p>
          <a:p>
            <a:pPr marL="285750" indent="-285750">
              <a:buFont typeface="Arial" panose="020B0604020202020204" pitchFamily="34" charset="0"/>
              <a:buChar char="•"/>
            </a:pPr>
            <a:r>
              <a:rPr lang="en-US" b="1" dirty="0"/>
              <a:t> Bring Argonne into the classroom- </a:t>
            </a:r>
            <a:r>
              <a:rPr lang="en-US" dirty="0"/>
              <a:t>Invite Argonne scientists and leaders for conversations where they hear directly from our students about their challenges and goals.</a:t>
            </a:r>
          </a:p>
          <a:p>
            <a:pPr marL="285750" indent="-285750">
              <a:buFont typeface="Arial" panose="020B0604020202020204" pitchFamily="34" charset="0"/>
              <a:buChar char="•"/>
            </a:pPr>
            <a:r>
              <a:rPr lang="en-US" b="1" dirty="0"/>
              <a:t>Integrate Student Realities into Scientific Talks- </a:t>
            </a:r>
            <a:r>
              <a:rPr lang="en-US" dirty="0"/>
              <a:t>I will use research talks at Argonne to briefly present student data and highlight the challenges they face.</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r>
              <a:rPr lang="en-US" sz="2000" dirty="0">
                <a:solidFill>
                  <a:srgbClr val="0070C0"/>
                </a:solidFill>
              </a:rPr>
              <a:t>4</a:t>
            </a:r>
            <a:r>
              <a:rPr lang="en-US" sz="2000" b="1" dirty="0">
                <a:solidFill>
                  <a:srgbClr val="0070C0"/>
                </a:solidFill>
              </a:rPr>
              <a:t>. Establishing Institutional Partnerships</a:t>
            </a:r>
          </a:p>
          <a:p>
            <a:r>
              <a:rPr lang="en-US" b="1" dirty="0"/>
              <a:t>Goal: </a:t>
            </a:r>
            <a:r>
              <a:rPr lang="en-US" dirty="0"/>
              <a:t>Moving from individual opportunities to a stable system that continuously supports Wilbur Wright  students.</a:t>
            </a:r>
          </a:p>
          <a:p>
            <a:endParaRPr lang="en-US" dirty="0"/>
          </a:p>
          <a:p>
            <a:r>
              <a:rPr lang="en-US" b="1" dirty="0"/>
              <a:t>Step:</a:t>
            </a:r>
          </a:p>
          <a:p>
            <a:pPr marL="285750" indent="-285750">
              <a:buFont typeface="Arial" panose="020B0604020202020204" pitchFamily="34" charset="0"/>
              <a:buChar char="•"/>
            </a:pPr>
            <a:r>
              <a:rPr lang="en-US" dirty="0"/>
              <a:t>Work toward formal agreements that support long-term collaboration and student access</a:t>
            </a:r>
            <a:endParaRPr lang="en-US" b="1" dirty="0"/>
          </a:p>
        </p:txBody>
      </p:sp>
      <p:sp>
        <p:nvSpPr>
          <p:cNvPr id="17" name="TextBox 16">
            <a:extLst>
              <a:ext uri="{FF2B5EF4-FFF2-40B4-BE49-F238E27FC236}">
                <a16:creationId xmlns:a16="http://schemas.microsoft.com/office/drawing/2014/main" id="{E58FB061-43E0-A35D-3104-5346CF17C287}"/>
              </a:ext>
            </a:extLst>
          </p:cNvPr>
          <p:cNvSpPr txBox="1"/>
          <p:nvPr/>
        </p:nvSpPr>
        <p:spPr>
          <a:xfrm>
            <a:off x="629529" y="5752759"/>
            <a:ext cx="10728377" cy="707886"/>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ctr"/>
            <a:r>
              <a:rPr lang="en-US" sz="2000" dirty="0"/>
              <a:t>The goal is reducing the dropout rates and empowering them to become scientists, engineers, role models, and contributors to their communities.</a:t>
            </a:r>
          </a:p>
        </p:txBody>
      </p:sp>
    </p:spTree>
    <p:extLst>
      <p:ext uri="{BB962C8B-B14F-4D97-AF65-F5344CB8AC3E}">
        <p14:creationId xmlns:p14="http://schemas.microsoft.com/office/powerpoint/2010/main" val="4462005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768047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0D93781-CC52-E91B-B123-C182E89FAE06}"/>
              </a:ext>
            </a:extLst>
          </p:cNvPr>
          <p:cNvSpPr txBox="1"/>
          <p:nvPr/>
        </p:nvSpPr>
        <p:spPr>
          <a:xfrm>
            <a:off x="1805354" y="546130"/>
            <a:ext cx="8581291" cy="738664"/>
          </a:xfrm>
          <a:prstGeom prst="rect">
            <a:avLst/>
          </a:prstGeom>
          <a:noFill/>
        </p:spPr>
        <p:txBody>
          <a:bodyPr wrap="square" rtlCol="0">
            <a:spAutoFit/>
          </a:bodyPr>
          <a:lstStyle/>
          <a:p>
            <a:pPr algn="ctr"/>
            <a:r>
              <a:rPr lang="en-US" sz="2400" b="1" dirty="0"/>
              <a:t>Science Undergraduate Laboratory Internships (SULI)</a:t>
            </a:r>
            <a:r>
              <a:rPr lang="en-US" sz="2400" dirty="0"/>
              <a:t> </a:t>
            </a:r>
            <a:r>
              <a:rPr lang="en-US" dirty="0">
                <a:hlinkClick r:id="rId2"/>
              </a:rPr>
              <a:t>https://science.osti.gov/wdts/suli</a:t>
            </a:r>
            <a:endParaRPr lang="en-US" b="1" dirty="0"/>
          </a:p>
        </p:txBody>
      </p:sp>
      <p:sp>
        <p:nvSpPr>
          <p:cNvPr id="4" name="TextBox 3">
            <a:extLst>
              <a:ext uri="{FF2B5EF4-FFF2-40B4-BE49-F238E27FC236}">
                <a16:creationId xmlns:a16="http://schemas.microsoft.com/office/drawing/2014/main" id="{3C0C76A4-D4C0-E7F6-6796-926FD2B046EA}"/>
              </a:ext>
            </a:extLst>
          </p:cNvPr>
          <p:cNvSpPr txBox="1"/>
          <p:nvPr/>
        </p:nvSpPr>
        <p:spPr>
          <a:xfrm>
            <a:off x="291024" y="1570213"/>
            <a:ext cx="11384866" cy="923330"/>
          </a:xfrm>
          <a:prstGeom prst="rect">
            <a:avLst/>
          </a:prstGeom>
          <a:noFill/>
        </p:spPr>
        <p:txBody>
          <a:bodyPr wrap="square">
            <a:spAutoFit/>
          </a:bodyPr>
          <a:lstStyle/>
          <a:p>
            <a:r>
              <a:rPr lang="en-US" dirty="0"/>
              <a:t>Paid 10‑week summer or semester internships at Argonne for undergraduates. Participants engage in research, attend seminars and present their work. Applicants must be undergraduate students from </a:t>
            </a:r>
            <a:r>
              <a:rPr lang="en-US" b="1" dirty="0"/>
              <a:t>two‑year or four‑year institutions</a:t>
            </a:r>
            <a:r>
              <a:rPr lang="en-US" dirty="0"/>
              <a:t>, must be U.S. citizens or permanent residents at least 18 years old.</a:t>
            </a:r>
            <a:endParaRPr lang="en-US" dirty="0">
              <a:solidFill>
                <a:srgbClr val="C00000"/>
              </a:solidFill>
            </a:endParaRPr>
          </a:p>
        </p:txBody>
      </p:sp>
      <p:sp>
        <p:nvSpPr>
          <p:cNvPr id="8" name="TextBox 7">
            <a:extLst>
              <a:ext uri="{FF2B5EF4-FFF2-40B4-BE49-F238E27FC236}">
                <a16:creationId xmlns:a16="http://schemas.microsoft.com/office/drawing/2014/main" id="{A840B4C4-F3F2-1CDA-1968-4026D026F752}"/>
              </a:ext>
            </a:extLst>
          </p:cNvPr>
          <p:cNvSpPr txBox="1"/>
          <p:nvPr/>
        </p:nvSpPr>
        <p:spPr>
          <a:xfrm>
            <a:off x="291024" y="2778962"/>
            <a:ext cx="11018520" cy="923330"/>
          </a:xfrm>
          <a:prstGeom prst="rect">
            <a:avLst/>
          </a:prstGeom>
          <a:noFill/>
        </p:spPr>
        <p:txBody>
          <a:bodyPr wrap="square">
            <a:spAutoFit/>
          </a:bodyPr>
          <a:lstStyle/>
          <a:p>
            <a:r>
              <a:rPr lang="en-US" dirty="0">
                <a:solidFill>
                  <a:srgbClr val="C00000"/>
                </a:solidFill>
              </a:rPr>
              <a:t>How WWC students qualify: </a:t>
            </a:r>
            <a:r>
              <a:rPr lang="en-US" dirty="0"/>
              <a:t>WWC students majoring in STEM fields can apply if they are U.S. citizens/permanent residents, at least 18 years old, enrolled at least half‑time. Applications open three times per year; strong letters of recommendation and a personal statement are essential.</a:t>
            </a:r>
            <a:endParaRPr lang="en-US" dirty="0">
              <a:solidFill>
                <a:srgbClr val="C00000"/>
              </a:solidFill>
            </a:endParaRPr>
          </a:p>
        </p:txBody>
      </p:sp>
      <p:sp>
        <p:nvSpPr>
          <p:cNvPr id="12" name="TextBox 11">
            <a:extLst>
              <a:ext uri="{FF2B5EF4-FFF2-40B4-BE49-F238E27FC236}">
                <a16:creationId xmlns:a16="http://schemas.microsoft.com/office/drawing/2014/main" id="{214B0E90-D870-CE83-EE09-0CC0DEAFA91D}"/>
              </a:ext>
            </a:extLst>
          </p:cNvPr>
          <p:cNvSpPr txBox="1"/>
          <p:nvPr/>
        </p:nvSpPr>
        <p:spPr>
          <a:xfrm>
            <a:off x="291024" y="3940676"/>
            <a:ext cx="11703148" cy="369332"/>
          </a:xfrm>
          <a:prstGeom prst="rect">
            <a:avLst/>
          </a:prstGeom>
          <a:noFill/>
        </p:spPr>
        <p:txBody>
          <a:bodyPr wrap="square">
            <a:spAutoFit/>
          </a:bodyPr>
          <a:lstStyle/>
          <a:p>
            <a:r>
              <a:rPr lang="en-US" dirty="0">
                <a:solidFill>
                  <a:srgbClr val="C00000"/>
                </a:solidFill>
              </a:rPr>
              <a:t>Stipend: </a:t>
            </a:r>
            <a:r>
              <a:rPr lang="en-US" b="1" dirty="0"/>
              <a:t>$650/week</a:t>
            </a:r>
            <a:r>
              <a:rPr lang="en-US" dirty="0"/>
              <a:t> for the 10‑week appointment</a:t>
            </a:r>
            <a:r>
              <a:rPr lang="en-US" sz="1400" dirty="0"/>
              <a:t>.  </a:t>
            </a:r>
            <a:endParaRPr lang="en-US" sz="1200" dirty="0"/>
          </a:p>
        </p:txBody>
      </p:sp>
      <p:sp>
        <p:nvSpPr>
          <p:cNvPr id="16" name="TextBox 15">
            <a:extLst>
              <a:ext uri="{FF2B5EF4-FFF2-40B4-BE49-F238E27FC236}">
                <a16:creationId xmlns:a16="http://schemas.microsoft.com/office/drawing/2014/main" id="{7AF50E55-AA74-D159-DCB8-6568791C7FED}"/>
              </a:ext>
            </a:extLst>
          </p:cNvPr>
          <p:cNvSpPr txBox="1"/>
          <p:nvPr/>
        </p:nvSpPr>
        <p:spPr>
          <a:xfrm>
            <a:off x="291024" y="4687622"/>
            <a:ext cx="11370213" cy="1200329"/>
          </a:xfrm>
          <a:prstGeom prst="rect">
            <a:avLst/>
          </a:prstGeom>
          <a:noFill/>
        </p:spPr>
        <p:txBody>
          <a:bodyPr wrap="square">
            <a:spAutoFit/>
          </a:bodyPr>
          <a:lstStyle/>
          <a:p>
            <a:r>
              <a:rPr lang="en-US" dirty="0">
                <a:solidFill>
                  <a:srgbClr val="C00000"/>
                </a:solidFill>
              </a:rPr>
              <a:t>Travel &amp; housing support: </a:t>
            </a:r>
            <a:r>
              <a:rPr lang="en-US" dirty="0"/>
              <a:t>One round‑trip domestic travel reimbursement for participants living &gt;50 miles from the lab; private auto travel reimbursed at the federal rate up to </a:t>
            </a:r>
            <a:r>
              <a:rPr lang="en-US" b="1" dirty="0"/>
              <a:t>$500 </a:t>
            </a:r>
            <a:r>
              <a:rPr lang="en-US" dirty="0"/>
              <a:t>or cost of lowest airfare; air travel reimbursed at the cost of the lowest commercial airfare. Housing support is provided—either onsite/near‑site housing or a </a:t>
            </a:r>
            <a:r>
              <a:rPr lang="en-US" b="1" dirty="0"/>
              <a:t>housing allowance</a:t>
            </a:r>
            <a:r>
              <a:rPr lang="en-US" dirty="0"/>
              <a:t> when the lab cannot provide housing</a:t>
            </a:r>
          </a:p>
        </p:txBody>
      </p:sp>
    </p:spTree>
    <p:extLst>
      <p:ext uri="{BB962C8B-B14F-4D97-AF65-F5344CB8AC3E}">
        <p14:creationId xmlns:p14="http://schemas.microsoft.com/office/powerpoint/2010/main" val="36375572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E5F095E-C84B-185C-0AC2-FFCE1596948B}"/>
              </a:ext>
            </a:extLst>
          </p:cNvPr>
          <p:cNvSpPr txBox="1"/>
          <p:nvPr/>
        </p:nvSpPr>
        <p:spPr>
          <a:xfrm>
            <a:off x="2977662" y="474576"/>
            <a:ext cx="5767754" cy="830997"/>
          </a:xfrm>
          <a:prstGeom prst="rect">
            <a:avLst/>
          </a:prstGeom>
          <a:noFill/>
        </p:spPr>
        <p:txBody>
          <a:bodyPr wrap="square">
            <a:spAutoFit/>
          </a:bodyPr>
          <a:lstStyle/>
          <a:p>
            <a:pPr algn="ctr"/>
            <a:r>
              <a:rPr lang="en-US" sz="2400" b="1" dirty="0"/>
              <a:t>Community College Internships (CCI) </a:t>
            </a:r>
            <a:r>
              <a:rPr lang="en-US" sz="2400" b="1" dirty="0">
                <a:hlinkClick r:id="rId2"/>
              </a:rPr>
              <a:t>https://science.osti.gov/wdts/cci</a:t>
            </a:r>
            <a:endParaRPr lang="en-US" sz="2400" b="1" dirty="0"/>
          </a:p>
        </p:txBody>
      </p:sp>
      <p:sp>
        <p:nvSpPr>
          <p:cNvPr id="5" name="TextBox 4">
            <a:extLst>
              <a:ext uri="{FF2B5EF4-FFF2-40B4-BE49-F238E27FC236}">
                <a16:creationId xmlns:a16="http://schemas.microsoft.com/office/drawing/2014/main" id="{431650FF-540B-4E45-3C42-BCE3CFFF009B}"/>
              </a:ext>
            </a:extLst>
          </p:cNvPr>
          <p:cNvSpPr txBox="1"/>
          <p:nvPr/>
        </p:nvSpPr>
        <p:spPr>
          <a:xfrm>
            <a:off x="206911" y="1669506"/>
            <a:ext cx="11778177" cy="1200329"/>
          </a:xfrm>
          <a:prstGeom prst="rect">
            <a:avLst/>
          </a:prstGeom>
          <a:noFill/>
        </p:spPr>
        <p:txBody>
          <a:bodyPr wrap="square">
            <a:spAutoFit/>
          </a:bodyPr>
          <a:lstStyle/>
          <a:p>
            <a:r>
              <a:rPr lang="en-US" dirty="0"/>
              <a:t>10‑week summer internships at Argonne designed specifically for community‑college students. CCI is part of DOE’s workforce‑development suite and mirrors SULI’s structure; participants conduct research or technical projects under a lab mentor. CCI applicants must be U.S. citizens or permanent residents, at least 18 years old and </a:t>
            </a:r>
            <a:r>
              <a:rPr lang="en-US" b="1" dirty="0"/>
              <a:t>currently enrolled at a community college.</a:t>
            </a:r>
          </a:p>
        </p:txBody>
      </p:sp>
      <p:sp>
        <p:nvSpPr>
          <p:cNvPr id="7" name="TextBox 6">
            <a:extLst>
              <a:ext uri="{FF2B5EF4-FFF2-40B4-BE49-F238E27FC236}">
                <a16:creationId xmlns:a16="http://schemas.microsoft.com/office/drawing/2014/main" id="{2E87D0A7-DBE8-0E7D-69D3-C8217E09AB32}"/>
              </a:ext>
            </a:extLst>
          </p:cNvPr>
          <p:cNvSpPr txBox="1"/>
          <p:nvPr/>
        </p:nvSpPr>
        <p:spPr>
          <a:xfrm>
            <a:off x="193428" y="3129308"/>
            <a:ext cx="11595297" cy="646331"/>
          </a:xfrm>
          <a:prstGeom prst="rect">
            <a:avLst/>
          </a:prstGeom>
          <a:noFill/>
        </p:spPr>
        <p:txBody>
          <a:bodyPr wrap="square">
            <a:spAutoFit/>
          </a:bodyPr>
          <a:lstStyle/>
          <a:p>
            <a:r>
              <a:rPr lang="en-US" dirty="0">
                <a:solidFill>
                  <a:srgbClr val="C00000"/>
                </a:solidFill>
              </a:rPr>
              <a:t>How WWC students qualify: </a:t>
            </a:r>
            <a:r>
              <a:rPr lang="en-US" dirty="0"/>
              <a:t>WWC students qualify because WWC is a community college. CCI can serve as a bridge to a four‑year degree transfer. Students must be </a:t>
            </a:r>
            <a:r>
              <a:rPr lang="en-US" b="1" dirty="0"/>
              <a:t>enrolled full‑time or part‑time</a:t>
            </a:r>
            <a:r>
              <a:rPr lang="en-US" dirty="0"/>
              <a:t> at a community college</a:t>
            </a:r>
          </a:p>
        </p:txBody>
      </p:sp>
      <p:sp>
        <p:nvSpPr>
          <p:cNvPr id="11" name="TextBox 10">
            <a:extLst>
              <a:ext uri="{FF2B5EF4-FFF2-40B4-BE49-F238E27FC236}">
                <a16:creationId xmlns:a16="http://schemas.microsoft.com/office/drawing/2014/main" id="{2D0E0432-F346-BD0D-7725-DFF7D7F7517A}"/>
              </a:ext>
            </a:extLst>
          </p:cNvPr>
          <p:cNvSpPr txBox="1"/>
          <p:nvPr/>
        </p:nvSpPr>
        <p:spPr>
          <a:xfrm>
            <a:off x="193428" y="4808364"/>
            <a:ext cx="11998572" cy="923330"/>
          </a:xfrm>
          <a:prstGeom prst="rect">
            <a:avLst/>
          </a:prstGeom>
          <a:noFill/>
        </p:spPr>
        <p:txBody>
          <a:bodyPr wrap="square">
            <a:spAutoFit/>
          </a:bodyPr>
          <a:lstStyle/>
          <a:p>
            <a:r>
              <a:rPr lang="en-US" dirty="0">
                <a:solidFill>
                  <a:srgbClr val="C00000"/>
                </a:solidFill>
              </a:rPr>
              <a:t>Travel &amp; housing support: </a:t>
            </a:r>
            <a:r>
              <a:rPr lang="en-US" dirty="0"/>
              <a:t>Same travel policy as SULI: one round‑trip domestic travel reimbursement; private automobile reimbursement up to </a:t>
            </a:r>
            <a:r>
              <a:rPr lang="en-US" b="1" dirty="0"/>
              <a:t>$500</a:t>
            </a:r>
            <a:r>
              <a:rPr lang="en-US" dirty="0"/>
              <a:t> or lowest airfare; air travel reimbursed at cost of lowest commercial airfare. Housing support or an allowance is provided when the host laboratory cannot supply housing.</a:t>
            </a:r>
          </a:p>
        </p:txBody>
      </p:sp>
      <p:sp>
        <p:nvSpPr>
          <p:cNvPr id="12" name="TextBox 11">
            <a:extLst>
              <a:ext uri="{FF2B5EF4-FFF2-40B4-BE49-F238E27FC236}">
                <a16:creationId xmlns:a16="http://schemas.microsoft.com/office/drawing/2014/main" id="{7381938B-91FB-DAFB-9989-0588292D654B}"/>
              </a:ext>
            </a:extLst>
          </p:cNvPr>
          <p:cNvSpPr txBox="1"/>
          <p:nvPr/>
        </p:nvSpPr>
        <p:spPr>
          <a:xfrm>
            <a:off x="193428" y="4035112"/>
            <a:ext cx="11703148" cy="369332"/>
          </a:xfrm>
          <a:prstGeom prst="rect">
            <a:avLst/>
          </a:prstGeom>
          <a:noFill/>
        </p:spPr>
        <p:txBody>
          <a:bodyPr wrap="square">
            <a:spAutoFit/>
          </a:bodyPr>
          <a:lstStyle/>
          <a:p>
            <a:r>
              <a:rPr lang="en-US" dirty="0">
                <a:solidFill>
                  <a:srgbClr val="C00000"/>
                </a:solidFill>
              </a:rPr>
              <a:t>Stipend: </a:t>
            </a:r>
            <a:r>
              <a:rPr lang="en-US" b="1" dirty="0"/>
              <a:t>$650/week</a:t>
            </a:r>
            <a:r>
              <a:rPr lang="en-US" dirty="0"/>
              <a:t> for the 10‑week appointment</a:t>
            </a:r>
            <a:r>
              <a:rPr lang="en-US" sz="1400" dirty="0"/>
              <a:t>.  </a:t>
            </a:r>
            <a:endParaRPr lang="en-US" sz="1200" dirty="0"/>
          </a:p>
        </p:txBody>
      </p:sp>
    </p:spTree>
    <p:extLst>
      <p:ext uri="{BB962C8B-B14F-4D97-AF65-F5344CB8AC3E}">
        <p14:creationId xmlns:p14="http://schemas.microsoft.com/office/powerpoint/2010/main" val="26142805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39CDE5F-AC4B-D2DE-5BBF-9BF503746AE3}"/>
              </a:ext>
            </a:extLst>
          </p:cNvPr>
          <p:cNvSpPr txBox="1"/>
          <p:nvPr/>
        </p:nvSpPr>
        <p:spPr>
          <a:xfrm>
            <a:off x="2415833" y="416079"/>
            <a:ext cx="7108874" cy="738664"/>
          </a:xfrm>
          <a:prstGeom prst="rect">
            <a:avLst/>
          </a:prstGeom>
          <a:noFill/>
        </p:spPr>
        <p:txBody>
          <a:bodyPr wrap="square">
            <a:spAutoFit/>
          </a:bodyPr>
          <a:lstStyle/>
          <a:p>
            <a:pPr algn="ctr"/>
            <a:r>
              <a:rPr lang="en-US" sz="2400" b="1" dirty="0"/>
              <a:t>Visiting Faculty Program(VFP)</a:t>
            </a:r>
          </a:p>
          <a:p>
            <a:pPr algn="ctr"/>
            <a:r>
              <a:rPr lang="en-US" b="1" dirty="0">
                <a:hlinkClick r:id="rId2"/>
              </a:rPr>
              <a:t>https://science.osti.gov/wdts/vfp</a:t>
            </a:r>
            <a:endParaRPr lang="en-US" b="1" dirty="0"/>
          </a:p>
        </p:txBody>
      </p:sp>
      <p:sp>
        <p:nvSpPr>
          <p:cNvPr id="5" name="TextBox 4">
            <a:extLst>
              <a:ext uri="{FF2B5EF4-FFF2-40B4-BE49-F238E27FC236}">
                <a16:creationId xmlns:a16="http://schemas.microsoft.com/office/drawing/2014/main" id="{46522EDD-6A89-3C3D-AD5F-F5A13B0F6B42}"/>
              </a:ext>
            </a:extLst>
          </p:cNvPr>
          <p:cNvSpPr txBox="1"/>
          <p:nvPr/>
        </p:nvSpPr>
        <p:spPr>
          <a:xfrm>
            <a:off x="467747" y="1319573"/>
            <a:ext cx="11536684" cy="1200329"/>
          </a:xfrm>
          <a:prstGeom prst="rect">
            <a:avLst/>
          </a:prstGeom>
          <a:noFill/>
        </p:spPr>
        <p:txBody>
          <a:bodyPr wrap="square">
            <a:spAutoFit/>
          </a:bodyPr>
          <a:lstStyle/>
          <a:p>
            <a:r>
              <a:rPr lang="en-US" dirty="0"/>
              <a:t>Provides full‑time faculty from </a:t>
            </a:r>
            <a:r>
              <a:rPr lang="en-US" b="1" dirty="0"/>
              <a:t>colleges and universities that serve under‑represented students </a:t>
            </a:r>
            <a:r>
              <a:rPr lang="en-US" dirty="0"/>
              <a:t>with a 10‑week summer research appointment at the laboratory. Faculty invites up to two students to work with them. Eligibility requires U.S. citizenship or permanent residency, full‑time employment at an accredited U.S. degree‑granting institution, and a research proposal that aligns with a host lab’s mission.</a:t>
            </a:r>
          </a:p>
        </p:txBody>
      </p:sp>
      <p:sp>
        <p:nvSpPr>
          <p:cNvPr id="7" name="TextBox 6">
            <a:extLst>
              <a:ext uri="{FF2B5EF4-FFF2-40B4-BE49-F238E27FC236}">
                <a16:creationId xmlns:a16="http://schemas.microsoft.com/office/drawing/2014/main" id="{3AD68523-0919-B1B2-CD66-7A83F048CBEC}"/>
              </a:ext>
            </a:extLst>
          </p:cNvPr>
          <p:cNvSpPr txBox="1"/>
          <p:nvPr/>
        </p:nvSpPr>
        <p:spPr>
          <a:xfrm>
            <a:off x="217464" y="2674422"/>
            <a:ext cx="11786967" cy="1200329"/>
          </a:xfrm>
          <a:prstGeom prst="rect">
            <a:avLst/>
          </a:prstGeom>
          <a:noFill/>
        </p:spPr>
        <p:txBody>
          <a:bodyPr wrap="square">
            <a:spAutoFit/>
          </a:bodyPr>
          <a:lstStyle/>
          <a:p>
            <a:r>
              <a:rPr lang="en-US" dirty="0">
                <a:solidFill>
                  <a:srgbClr val="C00000"/>
                </a:solidFill>
              </a:rPr>
              <a:t>How WWC students &amp; faculty qualify: </a:t>
            </a:r>
            <a:r>
              <a:rPr lang="en-US" dirty="0"/>
              <a:t>Tenure‑track or full‑time WWC faculty can apply. </a:t>
            </a:r>
            <a:r>
              <a:rPr lang="en-US" b="1" dirty="0"/>
              <a:t>Because WWC is a Hispanic‑serving community college</a:t>
            </a:r>
            <a:r>
              <a:rPr lang="en-US" dirty="0"/>
              <a:t>, its faculty are considered a target audience for VFP. Faculty must contact an Argonne (or other DOE lab) mentor, co‑develop a research proposal, secure institutional approval and submit an application by the VFP deadline. </a:t>
            </a:r>
          </a:p>
        </p:txBody>
      </p:sp>
      <p:sp>
        <p:nvSpPr>
          <p:cNvPr id="10" name="TextBox 9">
            <a:extLst>
              <a:ext uri="{FF2B5EF4-FFF2-40B4-BE49-F238E27FC236}">
                <a16:creationId xmlns:a16="http://schemas.microsoft.com/office/drawing/2014/main" id="{C816FB9E-3837-4CAE-680D-1BB4B9783510}"/>
              </a:ext>
            </a:extLst>
          </p:cNvPr>
          <p:cNvSpPr txBox="1"/>
          <p:nvPr/>
        </p:nvSpPr>
        <p:spPr>
          <a:xfrm>
            <a:off x="217464" y="4204411"/>
            <a:ext cx="11703148" cy="369332"/>
          </a:xfrm>
          <a:prstGeom prst="rect">
            <a:avLst/>
          </a:prstGeom>
          <a:noFill/>
        </p:spPr>
        <p:txBody>
          <a:bodyPr wrap="square">
            <a:spAutoFit/>
          </a:bodyPr>
          <a:lstStyle/>
          <a:p>
            <a:r>
              <a:rPr lang="en-US" dirty="0">
                <a:solidFill>
                  <a:srgbClr val="C00000"/>
                </a:solidFill>
              </a:rPr>
              <a:t>Student stipend: </a:t>
            </a:r>
            <a:r>
              <a:rPr lang="en-US" b="1" dirty="0"/>
              <a:t>$650/week</a:t>
            </a:r>
            <a:r>
              <a:rPr lang="en-US" dirty="0"/>
              <a:t> for the 10‑week appointment</a:t>
            </a:r>
            <a:r>
              <a:rPr lang="en-US" sz="1400" dirty="0"/>
              <a:t>.  </a:t>
            </a:r>
            <a:endParaRPr lang="en-US" sz="1200" dirty="0"/>
          </a:p>
        </p:txBody>
      </p:sp>
      <p:sp>
        <p:nvSpPr>
          <p:cNvPr id="12" name="TextBox 11">
            <a:extLst>
              <a:ext uri="{FF2B5EF4-FFF2-40B4-BE49-F238E27FC236}">
                <a16:creationId xmlns:a16="http://schemas.microsoft.com/office/drawing/2014/main" id="{D7629F74-A41E-CF74-EF46-D228348CA628}"/>
              </a:ext>
            </a:extLst>
          </p:cNvPr>
          <p:cNvSpPr txBox="1"/>
          <p:nvPr/>
        </p:nvSpPr>
        <p:spPr>
          <a:xfrm>
            <a:off x="217464" y="4786643"/>
            <a:ext cx="11505613" cy="646331"/>
          </a:xfrm>
          <a:prstGeom prst="rect">
            <a:avLst/>
          </a:prstGeom>
          <a:noFill/>
        </p:spPr>
        <p:txBody>
          <a:bodyPr wrap="square">
            <a:spAutoFit/>
          </a:bodyPr>
          <a:lstStyle/>
          <a:p>
            <a:r>
              <a:rPr lang="en-US" dirty="0">
                <a:solidFill>
                  <a:srgbClr val="C00000"/>
                </a:solidFill>
              </a:rPr>
              <a:t>Faculty stipend: </a:t>
            </a:r>
            <a:r>
              <a:rPr lang="en-US" dirty="0"/>
              <a:t>Equals </a:t>
            </a:r>
            <a:r>
              <a:rPr lang="en-US" b="1" dirty="0"/>
              <a:t>1/9 of their academic‑year salary</a:t>
            </a:r>
            <a:r>
              <a:rPr lang="en-US" dirty="0"/>
              <a:t>, capped at </a:t>
            </a:r>
            <a:r>
              <a:rPr lang="en-US" b="1" dirty="0"/>
              <a:t>$1 600 per week</a:t>
            </a:r>
            <a:r>
              <a:rPr lang="en-US" dirty="0"/>
              <a:t> during the 10‑week </a:t>
            </a:r>
          </a:p>
          <a:p>
            <a:r>
              <a:rPr lang="en-US" dirty="0"/>
              <a:t>VFP appointment.</a:t>
            </a:r>
          </a:p>
        </p:txBody>
      </p:sp>
      <p:sp>
        <p:nvSpPr>
          <p:cNvPr id="14" name="TextBox 13">
            <a:extLst>
              <a:ext uri="{FF2B5EF4-FFF2-40B4-BE49-F238E27FC236}">
                <a16:creationId xmlns:a16="http://schemas.microsoft.com/office/drawing/2014/main" id="{CA20DE4B-16C0-A6F6-54C4-071B7F83F5EF}"/>
              </a:ext>
            </a:extLst>
          </p:cNvPr>
          <p:cNvSpPr txBox="1"/>
          <p:nvPr/>
        </p:nvSpPr>
        <p:spPr>
          <a:xfrm>
            <a:off x="217464" y="5587494"/>
            <a:ext cx="11703148" cy="923330"/>
          </a:xfrm>
          <a:prstGeom prst="rect">
            <a:avLst/>
          </a:prstGeom>
          <a:noFill/>
        </p:spPr>
        <p:txBody>
          <a:bodyPr wrap="square">
            <a:spAutoFit/>
          </a:bodyPr>
          <a:lstStyle/>
          <a:p>
            <a:r>
              <a:rPr lang="en-US" dirty="0">
                <a:solidFill>
                  <a:srgbClr val="C00000"/>
                </a:solidFill>
              </a:rPr>
              <a:t>Travel &amp; housing support: </a:t>
            </a:r>
            <a:r>
              <a:rPr lang="en-US" dirty="0"/>
              <a:t>Students are reimbursed for one round‑trip domestic travel (same reimbursement rules as SULI/CCI) and are offered onsite housing or a </a:t>
            </a:r>
            <a:r>
              <a:rPr lang="en-US" b="1" dirty="0"/>
              <a:t>housing allowance</a:t>
            </a:r>
            <a:r>
              <a:rPr lang="en-US" dirty="0"/>
              <a:t> if housing is not provided. Faculty receive the same travel reimbursement and housing support as students.</a:t>
            </a:r>
          </a:p>
        </p:txBody>
      </p:sp>
    </p:spTree>
    <p:extLst>
      <p:ext uri="{BB962C8B-B14F-4D97-AF65-F5344CB8AC3E}">
        <p14:creationId xmlns:p14="http://schemas.microsoft.com/office/powerpoint/2010/main" val="397977632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7679</TotalTime>
  <Words>2005</Words>
  <Application>Microsoft Macintosh PowerPoint</Application>
  <PresentationFormat>Widescreen</PresentationFormat>
  <Paragraphs>152</Paragraphs>
  <Slides>16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-apple-system</vt:lpstr>
      <vt:lpstr>Aptos</vt:lpstr>
      <vt:lpstr>Aptos Display</vt:lpstr>
      <vt:lpstr>Arial</vt:lpstr>
      <vt:lpstr>Google Sans Flex</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Aslan, Fatma</dc:creator>
  <cp:lastModifiedBy>Aslan, Fatma</cp:lastModifiedBy>
  <cp:revision>13</cp:revision>
  <dcterms:created xsi:type="dcterms:W3CDTF">2026-04-14T15:58:15Z</dcterms:created>
  <dcterms:modified xsi:type="dcterms:W3CDTF">2026-05-05T11:47:22Z</dcterms:modified>
</cp:coreProperties>
</file>